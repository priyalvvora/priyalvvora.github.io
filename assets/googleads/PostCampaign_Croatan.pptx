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diagrams/colors1.xml" ContentType="application/vnd.openxmlformats-officedocument.drawingml.diagramColors+xml"/>
  <Override PartName="/ppt/diagrams/data1.xml" ContentType="application/vnd.openxmlformats-officedocument.drawingml.diagramData+xml"/>
  <Override PartName="/ppt/diagrams/drawing1.xml" ContentType="application/vnd.ms-office.drawingml.diagramDrawing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media/image11.svg" ContentType="image/svg+xml"/>
  <Override PartName="/ppt/media/image13.svg" ContentType="image/svg+xml"/>
  <Override PartName="/ppt/media/image15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35.svg" ContentType="image/svg+xml"/>
  <Override PartName="/ppt/media/image37.svg" ContentType="image/svg+xml"/>
  <Override PartName="/ppt/media/image39.svg" ContentType="image/svg+xml"/>
  <Override PartName="/ppt/media/image6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9" r:id="rId1"/>
  </p:sldMasterIdLst>
  <p:notesMasterIdLst>
    <p:notesMasterId r:id="rId17"/>
  </p:notesMasterIdLst>
  <p:sldIdLst>
    <p:sldId id="2509" r:id="rId2"/>
    <p:sldId id="2508" r:id="rId3"/>
    <p:sldId id="2510" r:id="rId4"/>
    <p:sldId id="274" r:id="rId5"/>
    <p:sldId id="2512" r:id="rId6"/>
    <p:sldId id="2515" r:id="rId7"/>
    <p:sldId id="2513" r:id="rId8"/>
    <p:sldId id="2514" r:id="rId9"/>
    <p:sldId id="2517" r:id="rId10"/>
    <p:sldId id="2519" r:id="rId11"/>
    <p:sldId id="2521" r:id="rId12"/>
    <p:sldId id="2522" r:id="rId13"/>
    <p:sldId id="2499" r:id="rId14"/>
    <p:sldId id="2524" r:id="rId15"/>
    <p:sldId id="2523" r:id="rId16"/>
  </p:sldIdLst>
  <p:sldSz cx="9144000" cy="5143500" type="screen16x9"/>
  <p:notesSz cx="6858000" cy="1057275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Google Sans" panose="020B0604020202020204" charset="0"/>
      <p:regular r:id="rId22"/>
      <p:bold r:id="rId23"/>
      <p:italic r:id="rId24"/>
      <p:boldItalic r:id="rId25"/>
    </p:embeddedFont>
    <p:embeddedFont>
      <p:font typeface="Roboto" panose="02000000000000000000" pitchFamily="2" charset="0"/>
      <p:regular r:id="rId26"/>
      <p:bold r:id="rId27"/>
      <p:italic r:id="rId28"/>
      <p:boldItalic r:id="rId2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Thakkar, Cheitali Rajratan" initials="TR" lastIdx="3" clrIdx="0">
    <p:extLst>
      <p:ext uri="{19B8F6BF-5375-455C-9EA6-DF929625EA0E}">
        <p15:presenceInfo xmlns:p15="http://schemas.microsoft.com/office/powerpoint/2012/main" userId="S::cthakka@purdue.edu::faa53e37-7460-470c-97b8-cdf2aa2cb40a" providerId="AD"/>
      </p:ext>
    </p:extLst>
  </p:cmAuthor>
  <p:cmAuthor id="2" name="Guest User" initials="GU" lastIdx="5" clrIdx="1">
    <p:extLst>
      <p:ext uri="{19B8F6BF-5375-455C-9EA6-DF929625EA0E}">
        <p15:presenceInfo xmlns:p15="http://schemas.microsoft.com/office/powerpoint/2012/main" userId="S::urn:spo:anon#1f1e5ddf20c9e776c7af00aebfadbb9e372e1af856ba83d27af97f6a2a3ae5a8::" providerId="AD"/>
      </p:ext>
    </p:extLst>
  </p:cmAuthor>
  <p:cmAuthor id="3" name="Rawlani, Reshma Sunil" initials="RRS" lastIdx="1" clrIdx="2">
    <p:extLst>
      <p:ext uri="{19B8F6BF-5375-455C-9EA6-DF929625EA0E}">
        <p15:presenceInfo xmlns:p15="http://schemas.microsoft.com/office/powerpoint/2012/main" userId="S::rrawlani@purdue.edu::e8c7ea9b-8443-40b0-ac74-7f3df68696a8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99451"/>
    <a:srgbClr val="F5B26B"/>
    <a:srgbClr val="A20000"/>
    <a:srgbClr val="93C47D"/>
    <a:srgbClr val="578BDF"/>
    <a:srgbClr val="6A79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857CBF9-F499-4B44-B88E-00A9DDB3205A}" v="41" dt="2022-04-29T16:33:47.974"/>
    <p1510:client id="{103B3A67-6EC4-4F13-88B2-EEFAFDC6FE94}" v="2" dt="2022-04-29T15:12:33.923"/>
    <p1510:client id="{1B2B85D6-4AFA-4882-B254-42A03166236E}" v="160" dt="2022-04-28T23:42:27.343"/>
    <p1510:client id="{2AA3AB9A-9537-4732-9F49-C4EA2009A101}" v="1531" dt="2022-04-29T16:46:35.704"/>
    <p1510:client id="{3C0D6F8E-9E4D-4F0D-8DD1-5BA00BF2E4C6}" v="1558" dt="2022-04-29T17:12:12.804"/>
    <p1510:client id="{6D9E0DE2-2F97-40E3-A381-211C05120016}" v="445" dt="2022-04-28T19:54:15.823"/>
    <p1510:client id="{9136D2B7-6EE8-4483-B68D-C3B00C34749A}" v="906" dt="2022-04-28T19:54:28.724"/>
    <p1510:client id="{E06C875E-C1C5-44FB-ABA6-11ECCEA2C80D}" v="201" dt="2022-04-29T03:08:19.821"/>
  </p1510:revLst>
</p1510:revInfo>
</file>

<file path=ppt/tableStyles.xml><?xml version="1.0" encoding="utf-8"?>
<a:tblStyleLst xmlns:a="http://schemas.openxmlformats.org/drawingml/2006/main" def="{459FDDED-E816-49B8-A515-81FDA929BD25}">
  <a:tblStyle styleId="{459FDDED-E816-49B8-A515-81FDA929BD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940" y="5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font" Target="fonts/font1.fntdata"/><Relationship Id="rId19" Type="http://schemas.openxmlformats.org/officeDocument/2006/relationships/font" Target="fonts/font2.fntdata"/><Relationship Id="rId20" Type="http://schemas.openxmlformats.org/officeDocument/2006/relationships/font" Target="fonts/font3.fntdata"/><Relationship Id="rId21" Type="http://schemas.openxmlformats.org/officeDocument/2006/relationships/font" Target="fonts/font4.fntdata"/><Relationship Id="rId22" Type="http://schemas.openxmlformats.org/officeDocument/2006/relationships/font" Target="fonts/font5.fntdata"/><Relationship Id="rId23" Type="http://schemas.openxmlformats.org/officeDocument/2006/relationships/font" Target="fonts/font6.fntdata"/><Relationship Id="rId24" Type="http://schemas.openxmlformats.org/officeDocument/2006/relationships/font" Target="fonts/font7.fntdata"/><Relationship Id="rId25" Type="http://schemas.openxmlformats.org/officeDocument/2006/relationships/font" Target="fonts/font8.fntdata"/><Relationship Id="rId26" Type="http://schemas.openxmlformats.org/officeDocument/2006/relationships/font" Target="fonts/font9.fntdata"/><Relationship Id="rId27" Type="http://schemas.openxmlformats.org/officeDocument/2006/relationships/font" Target="fonts/font10.fntdata"/><Relationship Id="rId28" Type="http://schemas.openxmlformats.org/officeDocument/2006/relationships/font" Target="fonts/font11.fntdata"/><Relationship Id="rId29" Type="http://schemas.openxmlformats.org/officeDocument/2006/relationships/font" Target="fonts/font12.fntdata"/><Relationship Id="rId30" Type="http://schemas.openxmlformats.org/officeDocument/2006/relationships/commentAuthors" Target="commentAuthors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Relationship Id="rId35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3DA4545-4550-4F4B-A3AA-DB9FC7DAB832}" type="doc">
      <dgm:prSet loTypeId="urn:microsoft.com/office/officeart/2009/3/layout/StepUpProcess" loCatId="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017EE3F9-8CFA-4C43-9393-F6CD61E1B1E4}">
      <dgm:prSet phldrT="[Text]" custT="1"/>
      <dgm:spPr/>
      <dgm:t>
        <a:bodyPr/>
        <a:lstStyle/>
        <a:p>
          <a:r>
            <a:rPr lang="en-US" sz="1300"/>
            <a:t>Increase further awareness of the Raiser page</a:t>
          </a:r>
        </a:p>
      </dgm:t>
    </dgm:pt>
    <dgm:pt modelId="{6E3AB45F-1F3E-DC4E-9410-A53B4A2A961D}" type="parTrans" cxnId="{4BCE1AFC-2C20-D54F-9710-0011DB9EAB95}">
      <dgm:prSet/>
      <dgm:spPr/>
      <dgm:t>
        <a:bodyPr/>
        <a:lstStyle/>
        <a:p>
          <a:endParaRPr lang="en-US"/>
        </a:p>
      </dgm:t>
    </dgm:pt>
    <dgm:pt modelId="{2FC2166D-6DDC-0744-A8D4-E78BAD1177EE}" type="sibTrans" cxnId="{4BCE1AFC-2C20-D54F-9710-0011DB9EAB95}">
      <dgm:prSet/>
      <dgm:spPr/>
      <dgm:t>
        <a:bodyPr/>
        <a:lstStyle/>
        <a:p>
          <a:endParaRPr lang="en-US"/>
        </a:p>
      </dgm:t>
    </dgm:pt>
    <dgm:pt modelId="{94156A98-0080-FC4D-B6D0-63FDB198A0E2}">
      <dgm:prSet phldrT="[Text]" custT="1"/>
      <dgm:spPr/>
      <dgm:t>
        <a:bodyPr/>
        <a:lstStyle/>
        <a:p>
          <a:r>
            <a:rPr lang="en-US" sz="1300"/>
            <a:t>Educating about Free Demo and getting people to click on free demos</a:t>
          </a:r>
        </a:p>
      </dgm:t>
    </dgm:pt>
    <dgm:pt modelId="{33A49EF0-1CFC-BA45-ACAB-74FC5A5E05D3}" type="parTrans" cxnId="{EA9BF926-177A-5144-BE0A-D596E8CA88EE}">
      <dgm:prSet/>
      <dgm:spPr/>
      <dgm:t>
        <a:bodyPr/>
        <a:lstStyle/>
        <a:p>
          <a:endParaRPr lang="en-US"/>
        </a:p>
      </dgm:t>
    </dgm:pt>
    <dgm:pt modelId="{344C10EF-0BDF-D444-BA19-D40439933D95}" type="sibTrans" cxnId="{EA9BF926-177A-5144-BE0A-D596E8CA88EE}">
      <dgm:prSet/>
      <dgm:spPr/>
      <dgm:t>
        <a:bodyPr/>
        <a:lstStyle/>
        <a:p>
          <a:endParaRPr lang="en-US"/>
        </a:p>
      </dgm:t>
    </dgm:pt>
    <dgm:pt modelId="{FE2F1D58-1819-A34A-A707-08C9D5D8C3B6}">
      <dgm:prSet phldrT="[Text]" custT="1"/>
      <dgm:spPr/>
      <dgm:t>
        <a:bodyPr/>
        <a:lstStyle/>
        <a:p>
          <a:r>
            <a:rPr lang="en-US" sz="1300"/>
            <a:t>Increase Raiser Premium Subscriptions</a:t>
          </a:r>
        </a:p>
      </dgm:t>
    </dgm:pt>
    <dgm:pt modelId="{4670F650-089D-4C49-B40A-46B61254BBCF}" type="parTrans" cxnId="{2485AC5F-1303-CB44-BB22-3D8026375E24}">
      <dgm:prSet/>
      <dgm:spPr/>
      <dgm:t>
        <a:bodyPr/>
        <a:lstStyle/>
        <a:p>
          <a:endParaRPr lang="en-US"/>
        </a:p>
      </dgm:t>
    </dgm:pt>
    <dgm:pt modelId="{BFE1ABED-0546-3F40-8075-C936A1370788}" type="sibTrans" cxnId="{2485AC5F-1303-CB44-BB22-3D8026375E24}">
      <dgm:prSet/>
      <dgm:spPr/>
      <dgm:t>
        <a:bodyPr/>
        <a:lstStyle/>
        <a:p>
          <a:endParaRPr lang="en-US"/>
        </a:p>
      </dgm:t>
    </dgm:pt>
    <dgm:pt modelId="{155FEE77-2D7F-C742-BBE4-0753B180A02F}" type="pres">
      <dgm:prSet presAssocID="{03DA4545-4550-4F4B-A3AA-DB9FC7DAB832}" presName="rootnode" presStyleCnt="0">
        <dgm:presLayoutVars>
          <dgm:chMax/>
          <dgm:chPref/>
          <dgm:dir/>
          <dgm:animLvl val="lvl"/>
        </dgm:presLayoutVars>
      </dgm:prSet>
      <dgm:spPr/>
    </dgm:pt>
    <dgm:pt modelId="{4A2B87D8-E6A0-9F47-9A76-5F70D3B45A5D}" type="pres">
      <dgm:prSet presAssocID="{017EE3F9-8CFA-4C43-9393-F6CD61E1B1E4}" presName="composite" presStyleCnt="0"/>
      <dgm:spPr/>
    </dgm:pt>
    <dgm:pt modelId="{9EA5C6A1-497B-0A4F-851F-BD6A6309AB64}" type="pres">
      <dgm:prSet presAssocID="{017EE3F9-8CFA-4C43-9393-F6CD61E1B1E4}" presName="LShape" presStyleLbl="alignNode1" presStyleIdx="0" presStyleCnt="5"/>
      <dgm:spPr/>
    </dgm:pt>
    <dgm:pt modelId="{D596BD2B-994D-C041-9353-CCD037EF204B}" type="pres">
      <dgm:prSet presAssocID="{017EE3F9-8CFA-4C43-9393-F6CD61E1B1E4}" presName="ParentText" presStyleLbl="revTx" presStyleIdx="0" presStyleCnt="3" custScaleY="31697" custLinFactNeighborX="340" custLinFactNeighborY="-20736">
        <dgm:presLayoutVars>
          <dgm:chMax val="0"/>
          <dgm:chPref val="0"/>
          <dgm:bulletEnabled val="1"/>
        </dgm:presLayoutVars>
      </dgm:prSet>
      <dgm:spPr/>
    </dgm:pt>
    <dgm:pt modelId="{47E5FAE4-CE65-3C47-BF3A-A672B43EAAB8}" type="pres">
      <dgm:prSet presAssocID="{017EE3F9-8CFA-4C43-9393-F6CD61E1B1E4}" presName="Triangle" presStyleLbl="alignNode1" presStyleIdx="1" presStyleCnt="5"/>
      <dgm:spPr/>
    </dgm:pt>
    <dgm:pt modelId="{4D3C2945-BC0C-F64E-9C9F-AACAB9E8C068}" type="pres">
      <dgm:prSet presAssocID="{2FC2166D-6DDC-0744-A8D4-E78BAD1177EE}" presName="sibTrans" presStyleCnt="0"/>
      <dgm:spPr/>
    </dgm:pt>
    <dgm:pt modelId="{DC289113-73D6-BD42-ADF9-50DEECA0B01B}" type="pres">
      <dgm:prSet presAssocID="{2FC2166D-6DDC-0744-A8D4-E78BAD1177EE}" presName="space" presStyleCnt="0"/>
      <dgm:spPr/>
    </dgm:pt>
    <dgm:pt modelId="{4E6B190D-D20F-C44C-AB54-1A2E6D7A3F86}" type="pres">
      <dgm:prSet presAssocID="{94156A98-0080-FC4D-B6D0-63FDB198A0E2}" presName="composite" presStyleCnt="0"/>
      <dgm:spPr/>
    </dgm:pt>
    <dgm:pt modelId="{9817E641-2477-3146-9635-DB27AC72F22D}" type="pres">
      <dgm:prSet presAssocID="{94156A98-0080-FC4D-B6D0-63FDB198A0E2}" presName="LShape" presStyleLbl="alignNode1" presStyleIdx="2" presStyleCnt="5" custLinFactNeighborY="-12141"/>
      <dgm:spPr/>
    </dgm:pt>
    <dgm:pt modelId="{FB831033-55ED-424D-A90E-A55635AF719D}" type="pres">
      <dgm:prSet presAssocID="{94156A98-0080-FC4D-B6D0-63FDB198A0E2}" presName="ParentText" presStyleLbl="revTx" presStyleIdx="1" presStyleCnt="3" custScaleY="46159" custLinFactNeighborY="-16696">
        <dgm:presLayoutVars>
          <dgm:chMax val="0"/>
          <dgm:chPref val="0"/>
          <dgm:bulletEnabled val="1"/>
        </dgm:presLayoutVars>
      </dgm:prSet>
      <dgm:spPr/>
    </dgm:pt>
    <dgm:pt modelId="{659E6606-235D-D649-87D8-1461A1A43ED6}" type="pres">
      <dgm:prSet presAssocID="{94156A98-0080-FC4D-B6D0-63FDB198A0E2}" presName="Triangle" presStyleLbl="alignNode1" presStyleIdx="3" presStyleCnt="5" custLinFactNeighborY="-42833"/>
      <dgm:spPr/>
    </dgm:pt>
    <dgm:pt modelId="{E8FBB6A8-EFEE-D144-B000-99809F8BC329}" type="pres">
      <dgm:prSet presAssocID="{344C10EF-0BDF-D444-BA19-D40439933D95}" presName="sibTrans" presStyleCnt="0"/>
      <dgm:spPr/>
    </dgm:pt>
    <dgm:pt modelId="{C490D466-9514-E841-A3EA-26160E461BA0}" type="pres">
      <dgm:prSet presAssocID="{344C10EF-0BDF-D444-BA19-D40439933D95}" presName="space" presStyleCnt="0"/>
      <dgm:spPr/>
    </dgm:pt>
    <dgm:pt modelId="{F17C66AE-115D-DD4F-82D6-5CEA2CCA7486}" type="pres">
      <dgm:prSet presAssocID="{FE2F1D58-1819-A34A-A707-08C9D5D8C3B6}" presName="composite" presStyleCnt="0"/>
      <dgm:spPr/>
    </dgm:pt>
    <dgm:pt modelId="{E2AD673F-AC0A-5246-A3A2-B002D1AEC688}" type="pres">
      <dgm:prSet presAssocID="{FE2F1D58-1819-A34A-A707-08C9D5D8C3B6}" presName="LShape" presStyleLbl="alignNode1" presStyleIdx="4" presStyleCnt="5" custLinFactNeighborX="265" custLinFactNeighborY="-10973"/>
      <dgm:spPr/>
    </dgm:pt>
    <dgm:pt modelId="{9D6C6475-45A1-084C-B025-2ADD0C50ED3F}" type="pres">
      <dgm:prSet presAssocID="{FE2F1D58-1819-A34A-A707-08C9D5D8C3B6}" presName="ParentText" presStyleLbl="revTx" presStyleIdx="2" presStyleCnt="3" custScaleY="66093" custLinFactNeighborX="72" custLinFactNeighborY="-2443">
        <dgm:presLayoutVars>
          <dgm:chMax val="0"/>
          <dgm:chPref val="0"/>
          <dgm:bulletEnabled val="1"/>
        </dgm:presLayoutVars>
      </dgm:prSet>
      <dgm:spPr/>
    </dgm:pt>
  </dgm:ptLst>
  <dgm:cxnLst>
    <dgm:cxn modelId="{EA9BF926-177A-5144-BE0A-D596E8CA88EE}" srcId="{03DA4545-4550-4F4B-A3AA-DB9FC7DAB832}" destId="{94156A98-0080-FC4D-B6D0-63FDB198A0E2}" srcOrd="1" destOrd="0" parTransId="{33A49EF0-1CFC-BA45-ACAB-74FC5A5E05D3}" sibTransId="{344C10EF-0BDF-D444-BA19-D40439933D95}"/>
    <dgm:cxn modelId="{492EBC30-BED4-8048-B92F-6B2D8B6EE3A4}" type="presOf" srcId="{94156A98-0080-FC4D-B6D0-63FDB198A0E2}" destId="{FB831033-55ED-424D-A90E-A55635AF719D}" srcOrd="0" destOrd="0" presId="urn:microsoft.com/office/officeart/2009/3/layout/StepUpProcess"/>
    <dgm:cxn modelId="{2485AC5F-1303-CB44-BB22-3D8026375E24}" srcId="{03DA4545-4550-4F4B-A3AA-DB9FC7DAB832}" destId="{FE2F1D58-1819-A34A-A707-08C9D5D8C3B6}" srcOrd="2" destOrd="0" parTransId="{4670F650-089D-4C49-B40A-46B61254BBCF}" sibTransId="{BFE1ABED-0546-3F40-8075-C936A1370788}"/>
    <dgm:cxn modelId="{9D637FC4-472F-554D-B5BA-6AB4ED433EEE}" type="presOf" srcId="{03DA4545-4550-4F4B-A3AA-DB9FC7DAB832}" destId="{155FEE77-2D7F-C742-BBE4-0753B180A02F}" srcOrd="0" destOrd="0" presId="urn:microsoft.com/office/officeart/2009/3/layout/StepUpProcess"/>
    <dgm:cxn modelId="{14C878E1-4560-5342-A0AB-511A9F3A14B3}" type="presOf" srcId="{017EE3F9-8CFA-4C43-9393-F6CD61E1B1E4}" destId="{D596BD2B-994D-C041-9353-CCD037EF204B}" srcOrd="0" destOrd="0" presId="urn:microsoft.com/office/officeart/2009/3/layout/StepUpProcess"/>
    <dgm:cxn modelId="{AA21F9F4-186E-DA41-A590-633311EDDD00}" type="presOf" srcId="{FE2F1D58-1819-A34A-A707-08C9D5D8C3B6}" destId="{9D6C6475-45A1-084C-B025-2ADD0C50ED3F}" srcOrd="0" destOrd="0" presId="urn:microsoft.com/office/officeart/2009/3/layout/StepUpProcess"/>
    <dgm:cxn modelId="{4BCE1AFC-2C20-D54F-9710-0011DB9EAB95}" srcId="{03DA4545-4550-4F4B-A3AA-DB9FC7DAB832}" destId="{017EE3F9-8CFA-4C43-9393-F6CD61E1B1E4}" srcOrd="0" destOrd="0" parTransId="{6E3AB45F-1F3E-DC4E-9410-A53B4A2A961D}" sibTransId="{2FC2166D-6DDC-0744-A8D4-E78BAD1177EE}"/>
    <dgm:cxn modelId="{2E137D78-6515-D645-BE19-77F95DFB0BA0}" type="presParOf" srcId="{155FEE77-2D7F-C742-BBE4-0753B180A02F}" destId="{4A2B87D8-E6A0-9F47-9A76-5F70D3B45A5D}" srcOrd="0" destOrd="0" presId="urn:microsoft.com/office/officeart/2009/3/layout/StepUpProcess"/>
    <dgm:cxn modelId="{B2641A5B-F7EB-9C4F-92EF-06D92E37470D}" type="presParOf" srcId="{4A2B87D8-E6A0-9F47-9A76-5F70D3B45A5D}" destId="{9EA5C6A1-497B-0A4F-851F-BD6A6309AB64}" srcOrd="0" destOrd="0" presId="urn:microsoft.com/office/officeart/2009/3/layout/StepUpProcess"/>
    <dgm:cxn modelId="{2D05463B-A5D2-434B-9F63-F1910874E2C8}" type="presParOf" srcId="{4A2B87D8-E6A0-9F47-9A76-5F70D3B45A5D}" destId="{D596BD2B-994D-C041-9353-CCD037EF204B}" srcOrd="1" destOrd="0" presId="urn:microsoft.com/office/officeart/2009/3/layout/StepUpProcess"/>
    <dgm:cxn modelId="{B8D0AEB7-618B-CC4E-8289-560B48869D75}" type="presParOf" srcId="{4A2B87D8-E6A0-9F47-9A76-5F70D3B45A5D}" destId="{47E5FAE4-CE65-3C47-BF3A-A672B43EAAB8}" srcOrd="2" destOrd="0" presId="urn:microsoft.com/office/officeart/2009/3/layout/StepUpProcess"/>
    <dgm:cxn modelId="{D588B400-2FB0-8B42-8E6E-6D29CA686CF1}" type="presParOf" srcId="{155FEE77-2D7F-C742-BBE4-0753B180A02F}" destId="{4D3C2945-BC0C-F64E-9C9F-AACAB9E8C068}" srcOrd="1" destOrd="0" presId="urn:microsoft.com/office/officeart/2009/3/layout/StepUpProcess"/>
    <dgm:cxn modelId="{222113D3-7402-EA4A-8561-144380484DBB}" type="presParOf" srcId="{4D3C2945-BC0C-F64E-9C9F-AACAB9E8C068}" destId="{DC289113-73D6-BD42-ADF9-50DEECA0B01B}" srcOrd="0" destOrd="0" presId="urn:microsoft.com/office/officeart/2009/3/layout/StepUpProcess"/>
    <dgm:cxn modelId="{7D410B84-E62A-CB4B-BECB-F3D71DFE7C12}" type="presParOf" srcId="{155FEE77-2D7F-C742-BBE4-0753B180A02F}" destId="{4E6B190D-D20F-C44C-AB54-1A2E6D7A3F86}" srcOrd="2" destOrd="0" presId="urn:microsoft.com/office/officeart/2009/3/layout/StepUpProcess"/>
    <dgm:cxn modelId="{E2481D6B-D0E0-3644-B92D-699521985D11}" type="presParOf" srcId="{4E6B190D-D20F-C44C-AB54-1A2E6D7A3F86}" destId="{9817E641-2477-3146-9635-DB27AC72F22D}" srcOrd="0" destOrd="0" presId="urn:microsoft.com/office/officeart/2009/3/layout/StepUpProcess"/>
    <dgm:cxn modelId="{93553FE9-A421-C24A-B6B2-9CC307F76755}" type="presParOf" srcId="{4E6B190D-D20F-C44C-AB54-1A2E6D7A3F86}" destId="{FB831033-55ED-424D-A90E-A55635AF719D}" srcOrd="1" destOrd="0" presId="urn:microsoft.com/office/officeart/2009/3/layout/StepUpProcess"/>
    <dgm:cxn modelId="{D263949F-AEE6-CA4E-A636-3F1009E3B06B}" type="presParOf" srcId="{4E6B190D-D20F-C44C-AB54-1A2E6D7A3F86}" destId="{659E6606-235D-D649-87D8-1461A1A43ED6}" srcOrd="2" destOrd="0" presId="urn:microsoft.com/office/officeart/2009/3/layout/StepUpProcess"/>
    <dgm:cxn modelId="{53475445-3221-9144-95E0-C512D2015C8F}" type="presParOf" srcId="{155FEE77-2D7F-C742-BBE4-0753B180A02F}" destId="{E8FBB6A8-EFEE-D144-B000-99809F8BC329}" srcOrd="3" destOrd="0" presId="urn:microsoft.com/office/officeart/2009/3/layout/StepUpProcess"/>
    <dgm:cxn modelId="{CB344186-F0F4-3840-8B38-C024781E6CFC}" type="presParOf" srcId="{E8FBB6A8-EFEE-D144-B000-99809F8BC329}" destId="{C490D466-9514-E841-A3EA-26160E461BA0}" srcOrd="0" destOrd="0" presId="urn:microsoft.com/office/officeart/2009/3/layout/StepUpProcess"/>
    <dgm:cxn modelId="{40A27F80-34C4-A74D-81ED-FDD065B232F8}" type="presParOf" srcId="{155FEE77-2D7F-C742-BBE4-0753B180A02F}" destId="{F17C66AE-115D-DD4F-82D6-5CEA2CCA7486}" srcOrd="4" destOrd="0" presId="urn:microsoft.com/office/officeart/2009/3/layout/StepUpProcess"/>
    <dgm:cxn modelId="{463890FA-B6CC-7B43-AC65-48B5AEB5A8B3}" type="presParOf" srcId="{F17C66AE-115D-DD4F-82D6-5CEA2CCA7486}" destId="{E2AD673F-AC0A-5246-A3A2-B002D1AEC688}" srcOrd="0" destOrd="0" presId="urn:microsoft.com/office/officeart/2009/3/layout/StepUpProcess"/>
    <dgm:cxn modelId="{977E420A-0DFA-B54E-8E0E-50C0456934DB}" type="presParOf" srcId="{F17C66AE-115D-DD4F-82D6-5CEA2CCA7486}" destId="{9D6C6475-45A1-084C-B025-2ADD0C50ED3F}" srcOrd="1" destOrd="0" presId="urn:microsoft.com/office/officeart/2009/3/layout/StepUp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A5C6A1-497B-0A4F-851F-BD6A6309AB64}">
      <dsp:nvSpPr>
        <dsp:cNvPr id="0" name=""/>
        <dsp:cNvSpPr/>
      </dsp:nvSpPr>
      <dsp:spPr>
        <a:xfrm rot="5400000">
          <a:off x="531849" y="1126455"/>
          <a:ext cx="1596804" cy="2657046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596BD2B-994D-C041-9353-CCD037EF204B}">
      <dsp:nvSpPr>
        <dsp:cNvPr id="0" name=""/>
        <dsp:cNvSpPr/>
      </dsp:nvSpPr>
      <dsp:spPr>
        <a:xfrm>
          <a:off x="273459" y="2202425"/>
          <a:ext cx="2398796" cy="6664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Increase further awareness of the Raiser page</a:t>
          </a:r>
        </a:p>
      </dsp:txBody>
      <dsp:txXfrm>
        <a:off x="273459" y="2202425"/>
        <a:ext cx="2398796" cy="666488"/>
      </dsp:txXfrm>
    </dsp:sp>
    <dsp:sp modelId="{47E5FAE4-CE65-3C47-BF3A-A672B43EAAB8}">
      <dsp:nvSpPr>
        <dsp:cNvPr id="0" name=""/>
        <dsp:cNvSpPr/>
      </dsp:nvSpPr>
      <dsp:spPr>
        <a:xfrm>
          <a:off x="2211496" y="930840"/>
          <a:ext cx="452603" cy="452603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17E641-2477-3146-9635-DB27AC72F22D}">
      <dsp:nvSpPr>
        <dsp:cNvPr id="0" name=""/>
        <dsp:cNvSpPr/>
      </dsp:nvSpPr>
      <dsp:spPr>
        <a:xfrm rot="5400000">
          <a:off x="3468445" y="771977"/>
          <a:ext cx="1596804" cy="2657046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831033-55ED-424D-A90E-A55635AF719D}">
      <dsp:nvSpPr>
        <dsp:cNvPr id="0" name=""/>
        <dsp:cNvSpPr/>
      </dsp:nvSpPr>
      <dsp:spPr>
        <a:xfrm>
          <a:off x="3201899" y="1974719"/>
          <a:ext cx="2398796" cy="970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Educating about Free Demo and getting people to click on free demos</a:t>
          </a:r>
        </a:p>
      </dsp:txBody>
      <dsp:txXfrm>
        <a:off x="3201899" y="1974719"/>
        <a:ext cx="2398796" cy="970578"/>
      </dsp:txXfrm>
    </dsp:sp>
    <dsp:sp modelId="{659E6606-235D-D649-87D8-1461A1A43ED6}">
      <dsp:nvSpPr>
        <dsp:cNvPr id="0" name=""/>
        <dsp:cNvSpPr/>
      </dsp:nvSpPr>
      <dsp:spPr>
        <a:xfrm>
          <a:off x="5148092" y="576367"/>
          <a:ext cx="452603" cy="452603"/>
        </a:xfrm>
        <a:prstGeom prst="triangle">
          <a:avLst>
            <a:gd name="adj" fmla="val 10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2AD673F-AC0A-5246-A3A2-B002D1AEC688}">
      <dsp:nvSpPr>
        <dsp:cNvPr id="0" name=""/>
        <dsp:cNvSpPr/>
      </dsp:nvSpPr>
      <dsp:spPr>
        <a:xfrm rot="5400000">
          <a:off x="6412082" y="420443"/>
          <a:ext cx="1596804" cy="2657046"/>
        </a:xfrm>
        <a:prstGeom prst="corner">
          <a:avLst>
            <a:gd name="adj1" fmla="val 16120"/>
            <a:gd name="adj2" fmla="val 1611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6C6475-45A1-084C-B025-2ADD0C50ED3F}">
      <dsp:nvSpPr>
        <dsp:cNvPr id="0" name=""/>
        <dsp:cNvSpPr/>
      </dsp:nvSpPr>
      <dsp:spPr>
        <a:xfrm>
          <a:off x="6140221" y="1694655"/>
          <a:ext cx="2398796" cy="138972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49530" rIns="49530" bIns="49530" numCol="1" spcCol="1270" anchor="t" anchorCtr="0">
          <a:noAutofit/>
        </a:bodyPr>
        <a:lstStyle/>
        <a:p>
          <a:pPr marL="0" lvl="0" indent="0" algn="l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/>
            <a:t>Increase Raiser Premium Subscriptions</a:t>
          </a:r>
        </a:p>
      </dsp:txBody>
      <dsp:txXfrm>
        <a:off x="6140221" y="1694655"/>
        <a:ext cx="2398796" cy="138972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3/layout/StepUpProcess">
  <dgm:title val=""/>
  <dgm:desc val=""/>
  <dgm:catLst>
    <dgm:cat type="process" pri="13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node">
    <dgm:varLst>
      <dgm:chMax/>
      <dgm:chPref/>
      <dgm:dir/>
      <dgm:animLvl val="lvl"/>
    </dgm:varLst>
    <dgm:choose name="Name0">
      <dgm:if name="Name1" func="var" arg="dir" op="equ" val="norm">
        <dgm:alg type="snake">
          <dgm:param type="grDir" val="bL"/>
          <dgm:param type="flowDir" val="row"/>
          <dgm:param type="off" val="off"/>
          <dgm:param type="bkpt" val="fixed"/>
          <dgm:param type="bkPtFixedVal" val="1"/>
        </dgm:alg>
      </dgm:if>
      <dgm:else name="Name2">
        <dgm:alg type="snake">
          <dgm:param type="grDir" val="bR"/>
          <dgm:param type="flowDir" val="row"/>
          <dgm:param type="off" val="off"/>
          <dgm:param type="bkpt" val="fixed"/>
          <dgm:param type="bkPtFixedVal" val="1"/>
        </dgm:alg>
      </dgm:else>
    </dgm:choose>
    <dgm:shape xmlns:r="http://schemas.openxmlformats.org/officeDocument/2006/relationships" r:blip="">
      <dgm:adjLst/>
    </dgm:shape>
    <dgm:constrLst>
      <dgm:constr type="alignOff" forName="rootnode" val="1"/>
      <dgm:constr type="primFontSz" for="des" ptType="node" op="equ" val="65"/>
      <dgm:constr type="w" for="ch" forName="composite" refType="w"/>
      <dgm:constr type="h" for="ch" forName="composite" refType="h"/>
      <dgm:constr type="sp" refType="h" refFor="ch" refForName="composite" op="equ" fact="-0.765"/>
      <dgm:constr type="w" for="ch" forName="sibTrans" refType="w" fact="0.103"/>
      <dgm:constr type="h" for="ch" forName="sibTrans" refType="h" fact="0.103"/>
    </dgm:constrLst>
    <dgm:forEach name="nodesForEach" axis="ch" ptType="node">
      <dgm:layoutNode name="composite">
        <dgm:alg type="composite">
          <dgm:param type="ar" val="0.861"/>
        </dgm:alg>
        <dgm:shape xmlns:r="http://schemas.openxmlformats.org/officeDocument/2006/relationships" r:blip="">
          <dgm:adjLst/>
        </dgm:shape>
        <dgm:choose name="Name3">
          <dgm:if name="Name4" func="var" arg="dir" op="equ" val="norm">
            <dgm:constrLst>
              <dgm:constr type="l" for="ch" forName="LShape" refType="w" fact="0"/>
              <dgm:constr type="t" for="ch" forName="LShape" refType="h" fact="0.2347"/>
              <dgm:constr type="w" for="ch" forName="LShape" refType="w" fact="0.998"/>
              <dgm:constr type="h" for="ch" forName="LShape" refType="h" fact="0.5164"/>
              <dgm:constr type="r" for="ch" forName="ParentText" refType="w"/>
              <dgm:constr type="t" for="ch" forName="ParentText" refType="h" fact="0.32"/>
              <dgm:constr type="w" for="ch" forName="ParentText" refType="w" fact="0.901"/>
              <dgm:constr type="h" for="ch" forName="ParentText" refType="h" fact="0.68"/>
              <dgm:constr type="l" for="ch" forName="Triangle" refType="w" fact="0.83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if>
          <dgm:else name="Name5">
            <dgm:constrLst>
              <dgm:constr type="l" for="ch" forName="LShape" refType="w" fact="0.002"/>
              <dgm:constr type="t" for="ch" forName="LShape" refType="h" fact="0.2347"/>
              <dgm:constr type="w" for="ch" forName="LShape" refType="w"/>
              <dgm:constr type="h" for="ch" forName="LShape" refType="h" fact="0.5164"/>
              <dgm:constr type="l" for="ch" forName="ParentText" refType="w" fact="0"/>
              <dgm:constr type="t" for="ch" forName="ParentText" refType="h" fact="0.32"/>
              <dgm:constr type="w" for="ch" forName="ParentText" refType="w" fact="0.902"/>
              <dgm:constr type="h" for="ch" forName="ParentText" refType="h" fact="0.68"/>
              <dgm:constr type="l" for="ch" forName="Triangle" refType="w" fact="0"/>
              <dgm:constr type="t" for="ch" forName="Triangle" refType="h" fact="0"/>
              <dgm:constr type="w" for="ch" forName="Triangle" refType="w" fact="0.17"/>
              <dgm:constr type="h" for="ch" forName="Triangle" refType="w" refFor="ch" refForName="Triangle"/>
            </dgm:constrLst>
          </dgm:else>
        </dgm:choose>
        <dgm:layoutNode name="LShape" styleLbl="alignNode1">
          <dgm:alg type="sp"/>
          <dgm:choose name="Name6">
            <dgm:if name="Name7" func="var" arg="dir" op="equ" val="norm">
              <dgm:shape xmlns:r="http://schemas.openxmlformats.org/officeDocument/2006/relationships" rot="90" type="corner" r:blip="">
                <dgm:adjLst>
                  <dgm:adj idx="1" val="0.1612"/>
                  <dgm:adj idx="2" val="0.1611"/>
                </dgm:adjLst>
              </dgm:shape>
            </dgm:if>
            <dgm:else name="Name8">
              <dgm:shape xmlns:r="http://schemas.openxmlformats.org/officeDocument/2006/relationships" rot="180" type="corner" r:blip="">
                <dgm:adjLst>
                  <dgm:adj idx="1" val="0.1612"/>
                  <dgm:adj idx="2" val="0.1611"/>
                </dgm:adjLst>
              </dgm:shape>
            </dgm:else>
          </dgm:choose>
          <dgm:presOf/>
        </dgm:layoutNode>
        <dgm:layoutNode name="ParentText" styleLbl="revTx">
          <dgm:varLst>
            <dgm:chMax val="0"/>
            <dgm:chPref val="0"/>
            <dgm:bulletEnabled val="1"/>
          </dgm:varLst>
          <dgm:alg type="tx">
            <dgm:param type="parTxLTRAlign" val="l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choose name="Name9">
          <dgm:if name="Name10" axis="followSib" ptType="node" func="cnt" op="gte" val="1">
            <dgm:layoutNode name="Triangle" styleLbl="alignNode1">
              <dgm:alg type="sp"/>
              <dgm:choose name="Name11">
                <dgm:if name="Name12" func="var" arg="dir" op="equ" val="norm">
                  <dgm:shape xmlns:r="http://schemas.openxmlformats.org/officeDocument/2006/relationships" type="triangle" r:blip="">
                    <dgm:adjLst>
                      <dgm:adj idx="1" val="1"/>
                    </dgm:adjLst>
                  </dgm:shape>
                </dgm:if>
                <dgm:else name="Name13">
                  <dgm:shape xmlns:r="http://schemas.openxmlformats.org/officeDocument/2006/relationships" rot="90" type="triangle" r:blip="">
                    <dgm:adjLst>
                      <dgm:adj idx="1" val="1"/>
                    </dgm:adjLst>
                  </dgm:shape>
                </dgm:else>
              </dgm:choose>
              <dgm:presOf/>
            </dgm:layoutNode>
          </dgm:if>
          <dgm:else name="Name14"/>
        </dgm:choose>
      </dgm:layoutNode>
      <dgm:forEach name="sibTransForEach" axis="followSib" ptType="sibTrans" cnt="1">
        <dgm:layoutNode name="sibTrans">
          <dgm:alg type="composite">
            <dgm:param type="ar" val="0.861"/>
          </dgm:alg>
          <dgm:constrLst>
            <dgm:constr type="w" for="ch" forName="space" refType="w"/>
            <dgm:constr type="h" for="ch" forName="space" refType="w"/>
          </dgm:constrLst>
          <dgm:layoutNode name="space" styleLbl="alignNode1">
            <dgm:alg type="sp"/>
            <dgm:shape xmlns:r="http://schemas.openxmlformats.org/officeDocument/2006/relationships" r:blip="">
              <dgm:adjLst/>
            </dgm:shape>
            <dgm:presOf/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957275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endParaRPr lang="en-US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08004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08271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ue Footer - Title &amp; Body">
  <p:cSld name="Blue Footer - Title &amp; Body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oogle Shape;65;p16"/>
          <p:cNvGrpSpPr/>
          <p:nvPr/>
        </p:nvGrpSpPr>
        <p:grpSpPr>
          <a:xfrm>
            <a:off x="-19032" y="4626756"/>
            <a:ext cx="9182148" cy="548400"/>
            <a:chOff x="-19032" y="4617750"/>
            <a:chExt cx="9182148" cy="548400"/>
          </a:xfrm>
        </p:grpSpPr>
        <p:sp>
          <p:nvSpPr>
            <p:cNvPr id="66" name="Google Shape;66;p16"/>
            <p:cNvSpPr/>
            <p:nvPr/>
          </p:nvSpPr>
          <p:spPr>
            <a:xfrm flipH="1">
              <a:off x="19116" y="4617750"/>
              <a:ext cx="9144000" cy="548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68" y="0"/>
                  </a:lnTo>
                  <a:lnTo>
                    <a:pt x="120000" y="68165"/>
                  </a:lnTo>
                  <a:lnTo>
                    <a:pt x="119832" y="113092"/>
                  </a:lnTo>
                  <a:close/>
                </a:path>
              </a:pathLst>
            </a:custGeom>
            <a:solidFill>
              <a:srgbClr val="3367D6"/>
            </a:solidFill>
            <a:ln>
              <a:noFill/>
            </a:ln>
          </p:spPr>
        </p:sp>
        <p:sp>
          <p:nvSpPr>
            <p:cNvPr id="67" name="Google Shape;67;p16"/>
            <p:cNvSpPr/>
            <p:nvPr/>
          </p:nvSpPr>
          <p:spPr>
            <a:xfrm flipH="1">
              <a:off x="-19032" y="4677825"/>
              <a:ext cx="4769700" cy="474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7227"/>
                  </a:moveTo>
                  <a:lnTo>
                    <a:pt x="120000" y="0"/>
                  </a:lnTo>
                  <a:lnTo>
                    <a:pt x="119904" y="1200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pic>
        <p:nvPicPr>
          <p:cNvPr id="68" name="Google Shape;68;p1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176225" y="1305875"/>
            <a:ext cx="5244900" cy="26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- Title">
  <p:cSld name="Blank - Title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4" name="Google Shape;74;p17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75" name="Google Shape;75;p1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Blue Footer">
  <p:cSld name="Blank Blue Footer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8"/>
          <p:cNvSpPr txBox="1"/>
          <p:nvPr/>
        </p:nvSpPr>
        <p:spPr>
          <a:xfrm>
            <a:off x="4698025" y="4790450"/>
            <a:ext cx="4345800" cy="37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Source:  Lorem ipsum dolor sit amet, consectetur adipiscing elit. Duis non erat sem</a:t>
            </a:r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8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grpSp>
        <p:nvGrpSpPr>
          <p:cNvPr id="80" name="Google Shape;80;p18"/>
          <p:cNvGrpSpPr/>
          <p:nvPr/>
        </p:nvGrpSpPr>
        <p:grpSpPr>
          <a:xfrm>
            <a:off x="-19032" y="4626756"/>
            <a:ext cx="9182148" cy="548400"/>
            <a:chOff x="-19032" y="4617750"/>
            <a:chExt cx="9182148" cy="548400"/>
          </a:xfrm>
        </p:grpSpPr>
        <p:sp>
          <p:nvSpPr>
            <p:cNvPr id="81" name="Google Shape;81;p18"/>
            <p:cNvSpPr/>
            <p:nvPr/>
          </p:nvSpPr>
          <p:spPr>
            <a:xfrm flipH="1">
              <a:off x="19116" y="4617750"/>
              <a:ext cx="9144000" cy="5484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20000"/>
                  </a:moveTo>
                  <a:lnTo>
                    <a:pt x="168" y="0"/>
                  </a:lnTo>
                  <a:lnTo>
                    <a:pt x="120000" y="68165"/>
                  </a:lnTo>
                  <a:lnTo>
                    <a:pt x="119832" y="113092"/>
                  </a:lnTo>
                  <a:close/>
                </a:path>
              </a:pathLst>
            </a:custGeom>
            <a:solidFill>
              <a:srgbClr val="3367D6"/>
            </a:solidFill>
            <a:ln>
              <a:noFill/>
            </a:ln>
          </p:spPr>
        </p:sp>
        <p:sp>
          <p:nvSpPr>
            <p:cNvPr id="82" name="Google Shape;82;p18"/>
            <p:cNvSpPr/>
            <p:nvPr/>
          </p:nvSpPr>
          <p:spPr>
            <a:xfrm flipH="1">
              <a:off x="-19032" y="4677825"/>
              <a:ext cx="4769700" cy="4740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0" y="117227"/>
                  </a:moveTo>
                  <a:lnTo>
                    <a:pt x="120000" y="0"/>
                  </a:lnTo>
                  <a:lnTo>
                    <a:pt x="119904" y="120000"/>
                  </a:lnTo>
                  <a:close/>
                </a:path>
              </a:pathLst>
            </a:custGeom>
            <a:solidFill>
              <a:srgbClr val="4285F4"/>
            </a:solidFill>
            <a:ln>
              <a:noFill/>
            </a:ln>
          </p:spPr>
        </p:sp>
      </p:grpSp>
      <p:pic>
        <p:nvPicPr>
          <p:cNvPr id="83" name="Google Shape;83;p1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Blue &amp; 3 Text">
  <p:cSld name="Half Color Blue &amp; 3 Text"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9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9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87" name="Google Shape;87;p19"/>
          <p:cNvSpPr txBox="1">
            <a:spLocks noGrp="1"/>
          </p:cNvSpPr>
          <p:nvPr>
            <p:ph type="body" idx="1"/>
          </p:nvPr>
        </p:nvSpPr>
        <p:spPr>
          <a:xfrm>
            <a:off x="180150" y="1540350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8" name="Google Shape;88;p19"/>
          <p:cNvSpPr txBox="1">
            <a:spLocks noGrp="1"/>
          </p:cNvSpPr>
          <p:nvPr>
            <p:ph type="body" idx="2"/>
          </p:nvPr>
        </p:nvSpPr>
        <p:spPr>
          <a:xfrm>
            <a:off x="189175" y="24411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9" name="Google Shape;89;p19"/>
          <p:cNvSpPr txBox="1">
            <a:spLocks noGrp="1"/>
          </p:cNvSpPr>
          <p:nvPr>
            <p:ph type="body" idx="3"/>
          </p:nvPr>
        </p:nvSpPr>
        <p:spPr>
          <a:xfrm>
            <a:off x="198175" y="34500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0" name="Google Shape;90;p19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91" name="Google Shape;91;p1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d Footer - Title &amp; Body">
  <p:cSld name="Red Footer - Title &amp; Body"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0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20"/>
          <p:cNvSpPr/>
          <p:nvPr/>
        </p:nvSpPr>
        <p:spPr>
          <a:xfrm flipH="1">
            <a:off x="25698" y="4617750"/>
            <a:ext cx="9144000" cy="54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68" y="0"/>
                </a:lnTo>
                <a:lnTo>
                  <a:pt x="120000" y="68165"/>
                </a:lnTo>
                <a:lnTo>
                  <a:pt x="119832" y="113092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</p:sp>
      <p:sp>
        <p:nvSpPr>
          <p:cNvPr id="95" name="Google Shape;95;p20"/>
          <p:cNvSpPr/>
          <p:nvPr/>
        </p:nvSpPr>
        <p:spPr>
          <a:xfrm flipH="1">
            <a:off x="-12450" y="4686832"/>
            <a:ext cx="4769700" cy="47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7227"/>
                </a:moveTo>
                <a:lnTo>
                  <a:pt x="120000" y="0"/>
                </a:lnTo>
                <a:lnTo>
                  <a:pt x="119904" y="120000"/>
                </a:lnTo>
                <a:close/>
              </a:path>
            </a:pathLst>
          </a:custGeom>
          <a:solidFill>
            <a:srgbClr val="EA4335"/>
          </a:solidFill>
          <a:ln>
            <a:noFill/>
          </a:ln>
        </p:spPr>
      </p:sp>
      <p:pic>
        <p:nvPicPr>
          <p:cNvPr id="96" name="Google Shape;96;p2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20"/>
          <p:cNvSpPr txBox="1">
            <a:spLocks noGrp="1"/>
          </p:cNvSpPr>
          <p:nvPr>
            <p:ph type="body" idx="1"/>
          </p:nvPr>
        </p:nvSpPr>
        <p:spPr>
          <a:xfrm>
            <a:off x="176225" y="1305875"/>
            <a:ext cx="5244900" cy="26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98" name="Google Shape;98;p20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Yellow Footer - Title &amp; Body">
  <p:cSld name="Yellow Footer - Title &amp; Bod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01" name="Google Shape;101;p21"/>
          <p:cNvSpPr/>
          <p:nvPr/>
        </p:nvSpPr>
        <p:spPr>
          <a:xfrm flipH="1">
            <a:off x="25698" y="4617750"/>
            <a:ext cx="9144000" cy="54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68" y="0"/>
                </a:lnTo>
                <a:lnTo>
                  <a:pt x="120000" y="68165"/>
                </a:lnTo>
                <a:lnTo>
                  <a:pt x="119832" y="113092"/>
                </a:lnTo>
                <a:close/>
              </a:path>
            </a:pathLst>
          </a:custGeom>
          <a:solidFill>
            <a:srgbClr val="FBBC05"/>
          </a:solidFill>
          <a:ln>
            <a:noFill/>
          </a:ln>
        </p:spPr>
      </p:sp>
      <p:sp>
        <p:nvSpPr>
          <p:cNvPr id="102" name="Google Shape;102;p21"/>
          <p:cNvSpPr txBox="1">
            <a:spLocks noGrp="1"/>
          </p:cNvSpPr>
          <p:nvPr>
            <p:ph type="body" idx="1"/>
          </p:nvPr>
        </p:nvSpPr>
        <p:spPr>
          <a:xfrm>
            <a:off x="176225" y="1305875"/>
            <a:ext cx="5244900" cy="26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03" name="Google Shape;103;p21"/>
          <p:cNvSpPr/>
          <p:nvPr/>
        </p:nvSpPr>
        <p:spPr>
          <a:xfrm flipH="1">
            <a:off x="-12450" y="4677825"/>
            <a:ext cx="4769700" cy="47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7227"/>
                </a:moveTo>
                <a:lnTo>
                  <a:pt x="120000" y="0"/>
                </a:lnTo>
                <a:lnTo>
                  <a:pt x="119904" y="120000"/>
                </a:lnTo>
                <a:close/>
              </a:path>
            </a:pathLst>
          </a:custGeom>
          <a:solidFill>
            <a:srgbClr val="FFCC50"/>
          </a:solidFill>
          <a:ln>
            <a:noFill/>
          </a:ln>
        </p:spPr>
      </p:sp>
      <p:pic>
        <p:nvPicPr>
          <p:cNvPr id="104" name="Google Shape;104;p2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1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Gray Footer - Title &amp; Body">
  <p:cSld name="Gray Footer - Title &amp; Bod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/>
          <p:nvPr/>
        </p:nvSpPr>
        <p:spPr>
          <a:xfrm flipH="1">
            <a:off x="25698" y="4617750"/>
            <a:ext cx="9144000" cy="54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68" y="0"/>
                </a:lnTo>
                <a:lnTo>
                  <a:pt x="120000" y="68165"/>
                </a:lnTo>
                <a:lnTo>
                  <a:pt x="119832" y="113092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115" name="Google Shape;115;p23"/>
          <p:cNvSpPr/>
          <p:nvPr/>
        </p:nvSpPr>
        <p:spPr>
          <a:xfrm flipH="1">
            <a:off x="-12450" y="4686832"/>
            <a:ext cx="4769700" cy="47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7227"/>
                </a:moveTo>
                <a:lnTo>
                  <a:pt x="120000" y="0"/>
                </a:lnTo>
                <a:lnTo>
                  <a:pt x="119904" y="1200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</p:sp>
      <p:pic>
        <p:nvPicPr>
          <p:cNvPr id="116" name="Google Shape;116;p2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23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body" idx="1"/>
          </p:nvPr>
        </p:nvSpPr>
        <p:spPr>
          <a:xfrm>
            <a:off x="176225" y="1305875"/>
            <a:ext cx="5244900" cy="26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●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Char char="○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Char char="■"/>
              <a:defRPr sz="14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19" name="Google Shape;119;p23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Red Footer">
  <p:cSld name="Blank Red Footer"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4"/>
          <p:cNvSpPr/>
          <p:nvPr/>
        </p:nvSpPr>
        <p:spPr>
          <a:xfrm flipH="1">
            <a:off x="-19300" y="4617750"/>
            <a:ext cx="9189000" cy="54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68" y="0"/>
                </a:lnTo>
                <a:lnTo>
                  <a:pt x="120000" y="68165"/>
                </a:lnTo>
                <a:lnTo>
                  <a:pt x="119832" y="113092"/>
                </a:lnTo>
                <a:close/>
              </a:path>
            </a:pathLst>
          </a:custGeom>
          <a:solidFill>
            <a:srgbClr val="800000"/>
          </a:solidFill>
          <a:ln>
            <a:noFill/>
          </a:ln>
        </p:spPr>
      </p:sp>
      <p:sp>
        <p:nvSpPr>
          <p:cNvPr id="122" name="Google Shape;122;p24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3" name="Google Shape;123;p24"/>
          <p:cNvSpPr/>
          <p:nvPr/>
        </p:nvSpPr>
        <p:spPr>
          <a:xfrm flipH="1">
            <a:off x="-21457" y="4686832"/>
            <a:ext cx="4769700" cy="47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7227"/>
                </a:moveTo>
                <a:lnTo>
                  <a:pt x="120000" y="0"/>
                </a:lnTo>
                <a:lnTo>
                  <a:pt x="119904" y="120000"/>
                </a:lnTo>
                <a:close/>
              </a:path>
            </a:pathLst>
          </a:custGeom>
          <a:solidFill>
            <a:srgbClr val="EA4335"/>
          </a:solidFill>
          <a:ln>
            <a:noFill/>
          </a:ln>
        </p:spPr>
      </p:sp>
      <p:sp>
        <p:nvSpPr>
          <p:cNvPr id="124" name="Google Shape;124;p24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25" name="Google Shape;125;p2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Yellow Footer">
  <p:cSld name="Blank Yellow Footer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5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28" name="Google Shape;128;p25"/>
          <p:cNvSpPr/>
          <p:nvPr/>
        </p:nvSpPr>
        <p:spPr>
          <a:xfrm flipH="1">
            <a:off x="25698" y="4617750"/>
            <a:ext cx="9144000" cy="54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68" y="0"/>
                </a:lnTo>
                <a:lnTo>
                  <a:pt x="120000" y="68165"/>
                </a:lnTo>
                <a:lnTo>
                  <a:pt x="119832" y="113092"/>
                </a:lnTo>
                <a:close/>
              </a:path>
            </a:pathLst>
          </a:custGeom>
          <a:solidFill>
            <a:srgbClr val="FBBC05"/>
          </a:solidFill>
          <a:ln>
            <a:noFill/>
          </a:ln>
        </p:spPr>
      </p:sp>
      <p:sp>
        <p:nvSpPr>
          <p:cNvPr id="129" name="Google Shape;129;p25"/>
          <p:cNvSpPr/>
          <p:nvPr/>
        </p:nvSpPr>
        <p:spPr>
          <a:xfrm flipH="1">
            <a:off x="-12450" y="4686832"/>
            <a:ext cx="4769700" cy="47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7227"/>
                </a:moveTo>
                <a:lnTo>
                  <a:pt x="120000" y="0"/>
                </a:lnTo>
                <a:lnTo>
                  <a:pt x="119904" y="120000"/>
                </a:lnTo>
                <a:close/>
              </a:path>
            </a:pathLst>
          </a:custGeom>
          <a:solidFill>
            <a:srgbClr val="FFCC50"/>
          </a:solidFill>
          <a:ln>
            <a:noFill/>
          </a:ln>
        </p:spPr>
      </p:sp>
      <p:sp>
        <p:nvSpPr>
          <p:cNvPr id="130" name="Google Shape;130;p25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31" name="Google Shape;131;p2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Green Footer">
  <p:cSld name="Blank Green Footer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34" name="Google Shape;134;p26"/>
          <p:cNvSpPr/>
          <p:nvPr/>
        </p:nvSpPr>
        <p:spPr>
          <a:xfrm flipH="1">
            <a:off x="71898" y="4617750"/>
            <a:ext cx="9097800" cy="54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68" y="0"/>
                </a:lnTo>
                <a:lnTo>
                  <a:pt x="120000" y="68165"/>
                </a:lnTo>
                <a:lnTo>
                  <a:pt x="119832" y="113092"/>
                </a:lnTo>
                <a:close/>
              </a:path>
            </a:pathLst>
          </a:custGeom>
          <a:solidFill>
            <a:srgbClr val="A20000"/>
          </a:solidFill>
          <a:ln>
            <a:noFill/>
          </a:ln>
        </p:spPr>
      </p:sp>
      <p:sp>
        <p:nvSpPr>
          <p:cNvPr id="135" name="Google Shape;135;p26"/>
          <p:cNvSpPr/>
          <p:nvPr/>
        </p:nvSpPr>
        <p:spPr>
          <a:xfrm flipH="1">
            <a:off x="-12450" y="4686832"/>
            <a:ext cx="4769700" cy="47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7227"/>
                </a:moveTo>
                <a:lnTo>
                  <a:pt x="120000" y="0"/>
                </a:lnTo>
                <a:lnTo>
                  <a:pt x="119904" y="120000"/>
                </a:lnTo>
                <a:close/>
              </a:path>
            </a:pathLst>
          </a:custGeom>
          <a:solidFill>
            <a:srgbClr val="C00000"/>
          </a:solidFill>
          <a:ln>
            <a:noFill/>
          </a:ln>
        </p:spPr>
      </p:sp>
      <p:sp>
        <p:nvSpPr>
          <p:cNvPr id="136" name="Google Shape;136;p26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37" name="Google Shape;137;p2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Gray Footer">
  <p:cSld name="Blank Gray Footer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7"/>
          <p:cNvSpPr/>
          <p:nvPr/>
        </p:nvSpPr>
        <p:spPr>
          <a:xfrm flipH="1">
            <a:off x="63499" y="4617750"/>
            <a:ext cx="9106200" cy="5484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20000"/>
                </a:moveTo>
                <a:lnTo>
                  <a:pt x="168" y="0"/>
                </a:lnTo>
                <a:lnTo>
                  <a:pt x="120000" y="68165"/>
                </a:lnTo>
                <a:lnTo>
                  <a:pt x="119832" y="113092"/>
                </a:lnTo>
                <a:close/>
              </a:path>
            </a:pathLst>
          </a:custGeom>
          <a:solidFill>
            <a:srgbClr val="666666"/>
          </a:solidFill>
          <a:ln>
            <a:noFill/>
          </a:ln>
        </p:spPr>
      </p:sp>
      <p:sp>
        <p:nvSpPr>
          <p:cNvPr id="140" name="Google Shape;140;p27"/>
          <p:cNvSpPr/>
          <p:nvPr/>
        </p:nvSpPr>
        <p:spPr>
          <a:xfrm flipH="1">
            <a:off x="-12450" y="4686832"/>
            <a:ext cx="4769700" cy="474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117227"/>
                </a:moveTo>
                <a:lnTo>
                  <a:pt x="120000" y="0"/>
                </a:lnTo>
                <a:lnTo>
                  <a:pt x="119904" y="120000"/>
                </a:lnTo>
                <a:close/>
              </a:path>
            </a:pathLst>
          </a:custGeom>
          <a:solidFill>
            <a:srgbClr val="999999"/>
          </a:solidFill>
          <a:ln>
            <a:noFill/>
          </a:ln>
        </p:spPr>
      </p:sp>
      <p:sp>
        <p:nvSpPr>
          <p:cNvPr id="141" name="Google Shape;141;p27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42" name="Google Shape;142;p27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43" name="Google Shape;143;p2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Blue">
  <p:cSld name="Half Color Blue"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8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28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>
                <a:solidFill>
                  <a:schemeClr val="accen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47" name="Google Shape;147;p28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48" name="Google Shape;148;p2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Blue &amp; 1 Text">
  <p:cSld name="Half Color Blue &amp; 1 Text"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4285F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29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2" name="Google Shape;152;p29"/>
          <p:cNvSpPr txBox="1">
            <a:spLocks noGrp="1"/>
          </p:cNvSpPr>
          <p:nvPr>
            <p:ph type="body" idx="1"/>
          </p:nvPr>
        </p:nvSpPr>
        <p:spPr>
          <a:xfrm>
            <a:off x="180150" y="1540350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53" name="Google Shape;153;p29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54" name="Google Shape;154;p2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Red">
  <p:cSld name="Half Color Red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30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0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58" name="Google Shape;158;p30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59" name="Google Shape;159;p3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Red &amp; 1 Text">
  <p:cSld name="Half Color Red &amp; 1 Text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1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3" name="Google Shape;163;p31"/>
          <p:cNvSpPr txBox="1">
            <a:spLocks noGrp="1"/>
          </p:cNvSpPr>
          <p:nvPr>
            <p:ph type="body" idx="1"/>
          </p:nvPr>
        </p:nvSpPr>
        <p:spPr>
          <a:xfrm>
            <a:off x="180150" y="1540350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64" name="Google Shape;164;p31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65" name="Google Shape;165;p3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Red &amp; 3 Text">
  <p:cSld name="Half Color Red &amp; 3 Text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EA433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2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69" name="Google Shape;169;p32"/>
          <p:cNvSpPr txBox="1">
            <a:spLocks noGrp="1"/>
          </p:cNvSpPr>
          <p:nvPr>
            <p:ph type="body" idx="1"/>
          </p:nvPr>
        </p:nvSpPr>
        <p:spPr>
          <a:xfrm>
            <a:off x="180150" y="1540350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0" name="Google Shape;170;p32"/>
          <p:cNvSpPr txBox="1">
            <a:spLocks noGrp="1"/>
          </p:cNvSpPr>
          <p:nvPr>
            <p:ph type="body" idx="2"/>
          </p:nvPr>
        </p:nvSpPr>
        <p:spPr>
          <a:xfrm>
            <a:off x="189175" y="24411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1" name="Google Shape;171;p32"/>
          <p:cNvSpPr txBox="1">
            <a:spLocks noGrp="1"/>
          </p:cNvSpPr>
          <p:nvPr>
            <p:ph type="body" idx="3"/>
          </p:nvPr>
        </p:nvSpPr>
        <p:spPr>
          <a:xfrm>
            <a:off x="198175" y="34500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72" name="Google Shape;172;p32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73" name="Google Shape;173;p3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Yellow">
  <p:cSld name="Half Color Yellow"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3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33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77" name="Google Shape;177;p33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78" name="Google Shape;178;p33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Yellow &amp; 1 Text">
  <p:cSld name="Half Color Yellow &amp; 1 Text"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34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34"/>
          <p:cNvSpPr txBox="1">
            <a:spLocks noGrp="1"/>
          </p:cNvSpPr>
          <p:nvPr>
            <p:ph type="body" idx="1"/>
          </p:nvPr>
        </p:nvSpPr>
        <p:spPr>
          <a:xfrm>
            <a:off x="180150" y="1540350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3" name="Google Shape;183;p34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84" name="Google Shape;184;p3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Yellow &amp; 3 Text">
  <p:cSld name="Half Color Yellow &amp; 3 Text"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>
            <a:spLocks noGrp="1"/>
          </p:cNvSpPr>
          <p:nvPr>
            <p:ph type="body" idx="1"/>
          </p:nvPr>
        </p:nvSpPr>
        <p:spPr>
          <a:xfrm>
            <a:off x="180150" y="1540350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87" name="Google Shape;187;p35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FBBC0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35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89" name="Google Shape;189;p35"/>
          <p:cNvSpPr txBox="1">
            <a:spLocks noGrp="1"/>
          </p:cNvSpPr>
          <p:nvPr>
            <p:ph type="body" idx="2"/>
          </p:nvPr>
        </p:nvSpPr>
        <p:spPr>
          <a:xfrm>
            <a:off x="189175" y="24411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0" name="Google Shape;190;p35"/>
          <p:cNvSpPr txBox="1">
            <a:spLocks noGrp="1"/>
          </p:cNvSpPr>
          <p:nvPr>
            <p:ph type="body" idx="3"/>
          </p:nvPr>
        </p:nvSpPr>
        <p:spPr>
          <a:xfrm>
            <a:off x="198175" y="34500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191" name="Google Shape;191;p35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92" name="Google Shape;192;p3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en">
  <p:cSld name="Half Color Green"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36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36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196" name="Google Shape;196;p36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197" name="Google Shape;197;p3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Half Color Green &amp; 3 Text">
  <p:cSld name="Half Color Green &amp; 3 Text"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38"/>
          <p:cNvSpPr/>
          <p:nvPr/>
        </p:nvSpPr>
        <p:spPr>
          <a:xfrm>
            <a:off x="4411675" y="0"/>
            <a:ext cx="4732200" cy="5143500"/>
          </a:xfrm>
          <a:prstGeom prst="rect">
            <a:avLst/>
          </a:prstGeom>
          <a:solidFill>
            <a:srgbClr val="34A85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38"/>
          <p:cNvSpPr txBox="1">
            <a:spLocks noGrp="1"/>
          </p:cNvSpPr>
          <p:nvPr>
            <p:ph type="title"/>
          </p:nvPr>
        </p:nvSpPr>
        <p:spPr>
          <a:xfrm>
            <a:off x="167100" y="522375"/>
            <a:ext cx="38928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207" name="Google Shape;207;p38"/>
          <p:cNvSpPr txBox="1">
            <a:spLocks noGrp="1"/>
          </p:cNvSpPr>
          <p:nvPr>
            <p:ph type="body" idx="1"/>
          </p:nvPr>
        </p:nvSpPr>
        <p:spPr>
          <a:xfrm>
            <a:off x="180150" y="1540350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8" name="Google Shape;208;p38"/>
          <p:cNvSpPr txBox="1">
            <a:spLocks noGrp="1"/>
          </p:cNvSpPr>
          <p:nvPr>
            <p:ph type="body" idx="2"/>
          </p:nvPr>
        </p:nvSpPr>
        <p:spPr>
          <a:xfrm>
            <a:off x="189175" y="24411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09" name="Google Shape;209;p38"/>
          <p:cNvSpPr txBox="1">
            <a:spLocks noGrp="1"/>
          </p:cNvSpPr>
          <p:nvPr>
            <p:ph type="body" idx="3"/>
          </p:nvPr>
        </p:nvSpPr>
        <p:spPr>
          <a:xfrm>
            <a:off x="198175" y="3450025"/>
            <a:ext cx="3315000" cy="85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Roboto"/>
              <a:buNone/>
              <a:defRPr sz="1200" b="0" i="0" u="none" strike="noStrike" cap="none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210" name="Google Shape;210;p38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pic>
        <p:nvPicPr>
          <p:cNvPr id="211" name="Google Shape;211;p3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25" y="4841775"/>
            <a:ext cx="538200" cy="17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Red">
  <p:cSld name="Section Header Red">
    <p:bg>
      <p:bgPr>
        <a:solidFill>
          <a:srgbClr val="EA4335"/>
        </a:solidFill>
        <a:effectLst/>
      </p:bgPr>
    </p:bg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9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000">
              <a:solidFill>
                <a:schemeClr val="accent1"/>
              </a:solidFill>
            </a:endParaRPr>
          </a:p>
        </p:txBody>
      </p:sp>
      <p:sp>
        <p:nvSpPr>
          <p:cNvPr id="214" name="Google Shape;214;p39"/>
          <p:cNvSpPr txBox="1"/>
          <p:nvPr/>
        </p:nvSpPr>
        <p:spPr>
          <a:xfrm>
            <a:off x="7934700" y="46758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  <p:sp>
        <p:nvSpPr>
          <p:cNvPr id="215" name="Google Shape;215;p39"/>
          <p:cNvSpPr/>
          <p:nvPr/>
        </p:nvSpPr>
        <p:spPr>
          <a:xfrm flipH="1">
            <a:off x="3450348" y="767950"/>
            <a:ext cx="5693700" cy="4375500"/>
          </a:xfrm>
          <a:prstGeom prst="rtTriangle">
            <a:avLst/>
          </a:prstGeom>
          <a:solidFill>
            <a:srgbClr val="FF525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39"/>
          <p:cNvSpPr/>
          <p:nvPr/>
        </p:nvSpPr>
        <p:spPr>
          <a:xfrm rot="10800000">
            <a:off x="3263749" y="0"/>
            <a:ext cx="5880300" cy="2994900"/>
          </a:xfrm>
          <a:prstGeom prst="rtTriangle">
            <a:avLst/>
          </a:prstGeom>
          <a:solidFill>
            <a:srgbClr val="98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39"/>
          <p:cNvSpPr txBox="1">
            <a:spLocks noGrp="1"/>
          </p:cNvSpPr>
          <p:nvPr>
            <p:ph type="title"/>
          </p:nvPr>
        </p:nvSpPr>
        <p:spPr>
          <a:xfrm>
            <a:off x="176225" y="742275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pic>
        <p:nvPicPr>
          <p:cNvPr id="218" name="Google Shape;218;p3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39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Yellow">
  <p:cSld name="Section Header Yellow">
    <p:bg>
      <p:bgPr>
        <a:solidFill>
          <a:srgbClr val="F4B400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0"/>
          <p:cNvSpPr/>
          <p:nvPr/>
        </p:nvSpPr>
        <p:spPr>
          <a:xfrm flipH="1">
            <a:off x="3450348" y="767950"/>
            <a:ext cx="5693700" cy="4375500"/>
          </a:xfrm>
          <a:prstGeom prst="rtTriangle">
            <a:avLst/>
          </a:prstGeom>
          <a:solidFill>
            <a:srgbClr val="FFCC5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2" name="Google Shape;222;p40"/>
          <p:cNvSpPr/>
          <p:nvPr/>
        </p:nvSpPr>
        <p:spPr>
          <a:xfrm rot="10800000">
            <a:off x="3263749" y="0"/>
            <a:ext cx="5880300" cy="2994900"/>
          </a:xfrm>
          <a:prstGeom prst="rtTriangle">
            <a:avLst/>
          </a:prstGeom>
          <a:solidFill>
            <a:srgbClr val="BF9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40"/>
          <p:cNvSpPr txBox="1">
            <a:spLocks noGrp="1"/>
          </p:cNvSpPr>
          <p:nvPr>
            <p:ph type="title"/>
          </p:nvPr>
        </p:nvSpPr>
        <p:spPr>
          <a:xfrm>
            <a:off x="176225" y="742275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pic>
        <p:nvPicPr>
          <p:cNvPr id="224" name="Google Shape;224;p4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40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Gray">
  <p:cSld name="Section Header Gray">
    <p:bg>
      <p:bgPr>
        <a:solidFill>
          <a:srgbClr val="999999"/>
        </a:solidFill>
        <a:effectLst/>
      </p:bgPr>
    </p:bg>
    <p:spTree>
      <p:nvGrpSpPr>
        <p:cNvPr id="1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42"/>
          <p:cNvSpPr/>
          <p:nvPr/>
        </p:nvSpPr>
        <p:spPr>
          <a:xfrm flipH="1">
            <a:off x="3450348" y="767950"/>
            <a:ext cx="5693700" cy="4375500"/>
          </a:xfrm>
          <a:prstGeom prst="rtTriangl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42"/>
          <p:cNvSpPr/>
          <p:nvPr/>
        </p:nvSpPr>
        <p:spPr>
          <a:xfrm rot="10800000">
            <a:off x="3263749" y="0"/>
            <a:ext cx="5880300" cy="2994900"/>
          </a:xfrm>
          <a:prstGeom prst="rtTriangle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5" name="Google Shape;235;p42"/>
          <p:cNvSpPr txBox="1">
            <a:spLocks noGrp="1"/>
          </p:cNvSpPr>
          <p:nvPr>
            <p:ph type="title"/>
          </p:nvPr>
        </p:nvSpPr>
        <p:spPr>
          <a:xfrm>
            <a:off x="176225" y="742275"/>
            <a:ext cx="8222100" cy="101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3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pic>
        <p:nvPicPr>
          <p:cNvPr id="236" name="Google Shape;236;p4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76218" y="4841764"/>
            <a:ext cx="555300" cy="171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42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Font typeface="Roboto"/>
              <a:buNone/>
            </a:pPr>
            <a:r>
              <a:rPr lang="en" sz="600" b="0" i="0" u="none" strike="noStrike" cap="none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ody Slide - Blue">
  <p:cSld name="Body Slide - Blue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/>
          <p:nvPr/>
        </p:nvSpPr>
        <p:spPr>
          <a:xfrm>
            <a:off x="426300" y="492975"/>
            <a:ext cx="7797000" cy="4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9050" tIns="19050" rIns="19050" bIns="1905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400" b="0" i="0" u="none" strike="noStrike" cap="none">
              <a:solidFill>
                <a:srgbClr val="3C4043"/>
              </a:solidFill>
              <a:latin typeface="Google Sans"/>
              <a:ea typeface="Google Sans"/>
              <a:cs typeface="Google Sans"/>
              <a:sym typeface="Google Sans"/>
            </a:endParaRPr>
          </a:p>
        </p:txBody>
      </p:sp>
      <p:sp>
        <p:nvSpPr>
          <p:cNvPr id="67" name="Google Shape;67;p15"/>
          <p:cNvSpPr txBox="1"/>
          <p:nvPr/>
        </p:nvSpPr>
        <p:spPr>
          <a:xfrm>
            <a:off x="7934700" y="218775"/>
            <a:ext cx="1209300" cy="30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lang="en" sz="600" b="0" i="0" u="none" strike="noStrike" cap="none">
                <a:solidFill>
                  <a:srgbClr val="D9D9D9"/>
                </a:solidFill>
                <a:latin typeface="Roboto"/>
                <a:ea typeface="Roboto"/>
                <a:cs typeface="Roboto"/>
                <a:sym typeface="Roboto"/>
              </a:rPr>
              <a:t>Proprietary + Confidential</a:t>
            </a:r>
            <a:endParaRPr sz="600" b="0" i="0" u="none" strike="noStrike" cap="none">
              <a:solidFill>
                <a:srgbClr val="D9D9D9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69" name="Google Shape;69;p15"/>
          <p:cNvGrpSpPr/>
          <p:nvPr/>
        </p:nvGrpSpPr>
        <p:grpSpPr>
          <a:xfrm>
            <a:off x="8469122" y="4803781"/>
            <a:ext cx="420491" cy="137010"/>
            <a:chOff x="0" y="0"/>
            <a:chExt cx="2077525" cy="676925"/>
          </a:xfrm>
        </p:grpSpPr>
        <p:sp>
          <p:nvSpPr>
            <p:cNvPr id="70" name="Google Shape;70;p15"/>
            <p:cNvSpPr/>
            <p:nvPr/>
          </p:nvSpPr>
          <p:spPr>
            <a:xfrm>
              <a:off x="0" y="0"/>
              <a:ext cx="511375" cy="524800"/>
            </a:xfrm>
            <a:custGeom>
              <a:avLst/>
              <a:gdLst/>
              <a:ahLst/>
              <a:cxnLst/>
              <a:rect l="l" t="t" r="r" b="b"/>
              <a:pathLst>
                <a:path w="20455" h="20992" extrusionOk="0">
                  <a:moveTo>
                    <a:pt x="10700" y="12450"/>
                  </a:moveTo>
                  <a:lnTo>
                    <a:pt x="10700" y="9583"/>
                  </a:lnTo>
                  <a:lnTo>
                    <a:pt x="20300" y="9583"/>
                  </a:lnTo>
                  <a:cubicBezTo>
                    <a:pt x="20398" y="10088"/>
                    <a:pt x="20455" y="10690"/>
                    <a:pt x="20455" y="11341"/>
                  </a:cubicBezTo>
                  <a:cubicBezTo>
                    <a:pt x="20455" y="13491"/>
                    <a:pt x="19866" y="16154"/>
                    <a:pt x="17972" y="18048"/>
                  </a:cubicBezTo>
                  <a:cubicBezTo>
                    <a:pt x="16129" y="19968"/>
                    <a:pt x="13773" y="20992"/>
                    <a:pt x="10650" y="20992"/>
                  </a:cubicBezTo>
                  <a:cubicBezTo>
                    <a:pt x="4864" y="20993"/>
                    <a:pt x="0" y="16282"/>
                    <a:pt x="0" y="10496"/>
                  </a:cubicBezTo>
                  <a:cubicBezTo>
                    <a:pt x="0" y="4710"/>
                    <a:pt x="4864" y="0"/>
                    <a:pt x="10650" y="0"/>
                  </a:cubicBezTo>
                  <a:cubicBezTo>
                    <a:pt x="13850" y="0"/>
                    <a:pt x="16129" y="1254"/>
                    <a:pt x="17844" y="2893"/>
                  </a:cubicBezTo>
                  <a:lnTo>
                    <a:pt x="15822" y="4915"/>
                  </a:lnTo>
                  <a:cubicBezTo>
                    <a:pt x="14593" y="3763"/>
                    <a:pt x="12929" y="2867"/>
                    <a:pt x="10651" y="2867"/>
                  </a:cubicBezTo>
                  <a:cubicBezTo>
                    <a:pt x="6427" y="2867"/>
                    <a:pt x="3124" y="6272"/>
                    <a:pt x="3124" y="10496"/>
                  </a:cubicBezTo>
                  <a:cubicBezTo>
                    <a:pt x="3124" y="14720"/>
                    <a:pt x="6427" y="18125"/>
                    <a:pt x="10651" y="18125"/>
                  </a:cubicBezTo>
                  <a:cubicBezTo>
                    <a:pt x="13390" y="18125"/>
                    <a:pt x="14952" y="17024"/>
                    <a:pt x="15950" y="16026"/>
                  </a:cubicBezTo>
                  <a:cubicBezTo>
                    <a:pt x="16764" y="15213"/>
                    <a:pt x="17299" y="14046"/>
                    <a:pt x="17507" y="12450"/>
                  </a:cubicBezTo>
                  <a:lnTo>
                    <a:pt x="10700" y="1245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5"/>
            <p:cNvSpPr/>
            <p:nvPr/>
          </p:nvSpPr>
          <p:spPr>
            <a:xfrm>
              <a:off x="540400" y="187300"/>
              <a:ext cx="339200" cy="337950"/>
            </a:xfrm>
            <a:custGeom>
              <a:avLst/>
              <a:gdLst/>
              <a:ahLst/>
              <a:cxnLst/>
              <a:rect l="l" t="t" r="r" b="b"/>
              <a:pathLst>
                <a:path w="13568" h="13518" extrusionOk="0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" name="Google Shape;72;p15"/>
            <p:cNvSpPr/>
            <p:nvPr/>
          </p:nvSpPr>
          <p:spPr>
            <a:xfrm>
              <a:off x="910400" y="187300"/>
              <a:ext cx="339200" cy="337950"/>
            </a:xfrm>
            <a:custGeom>
              <a:avLst/>
              <a:gdLst/>
              <a:ahLst/>
              <a:cxnLst/>
              <a:rect l="l" t="t" r="r" b="b"/>
              <a:pathLst>
                <a:path w="13568" h="13518" extrusionOk="0">
                  <a:moveTo>
                    <a:pt x="13568" y="6759"/>
                  </a:moveTo>
                  <a:cubicBezTo>
                    <a:pt x="13568" y="10650"/>
                    <a:pt x="10522" y="13518"/>
                    <a:pt x="6784" y="13518"/>
                  </a:cubicBezTo>
                  <a:cubicBezTo>
                    <a:pt x="3046" y="13518"/>
                    <a:pt x="0" y="10651"/>
                    <a:pt x="0" y="6759"/>
                  </a:cubicBezTo>
                  <a:cubicBezTo>
                    <a:pt x="0" y="2842"/>
                    <a:pt x="3046" y="0"/>
                    <a:pt x="6784" y="0"/>
                  </a:cubicBezTo>
                  <a:cubicBezTo>
                    <a:pt x="10522" y="0"/>
                    <a:pt x="13568" y="2842"/>
                    <a:pt x="13568" y="6759"/>
                  </a:cubicBezTo>
                  <a:close/>
                  <a:moveTo>
                    <a:pt x="10599" y="6759"/>
                  </a:moveTo>
                  <a:cubicBezTo>
                    <a:pt x="10599" y="4327"/>
                    <a:pt x="8833" y="2663"/>
                    <a:pt x="6785" y="2663"/>
                  </a:cubicBezTo>
                  <a:cubicBezTo>
                    <a:pt x="4737" y="2663"/>
                    <a:pt x="2970" y="4327"/>
                    <a:pt x="2970" y="6759"/>
                  </a:cubicBezTo>
                  <a:cubicBezTo>
                    <a:pt x="2970" y="9165"/>
                    <a:pt x="4736" y="10855"/>
                    <a:pt x="6785" y="10855"/>
                  </a:cubicBezTo>
                  <a:cubicBezTo>
                    <a:pt x="8832" y="10855"/>
                    <a:pt x="10599" y="9165"/>
                    <a:pt x="10599" y="6759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" name="Google Shape;73;p15"/>
            <p:cNvSpPr/>
            <p:nvPr/>
          </p:nvSpPr>
          <p:spPr>
            <a:xfrm>
              <a:off x="1280400" y="187325"/>
              <a:ext cx="323850" cy="489600"/>
            </a:xfrm>
            <a:custGeom>
              <a:avLst/>
              <a:gdLst/>
              <a:ahLst/>
              <a:cxnLst/>
              <a:rect l="l" t="t" r="r" b="b"/>
              <a:pathLst>
                <a:path w="12954" h="19584" extrusionOk="0">
                  <a:moveTo>
                    <a:pt x="12954" y="409"/>
                  </a:moveTo>
                  <a:lnTo>
                    <a:pt x="12954" y="12544"/>
                  </a:lnTo>
                  <a:cubicBezTo>
                    <a:pt x="12954" y="17536"/>
                    <a:pt x="10010" y="19584"/>
                    <a:pt x="6528" y="19584"/>
                  </a:cubicBezTo>
                  <a:cubicBezTo>
                    <a:pt x="3251" y="19584"/>
                    <a:pt x="1280" y="17382"/>
                    <a:pt x="537" y="15590"/>
                  </a:cubicBezTo>
                  <a:lnTo>
                    <a:pt x="3123" y="14515"/>
                  </a:lnTo>
                  <a:cubicBezTo>
                    <a:pt x="3584" y="15616"/>
                    <a:pt x="4710" y="16922"/>
                    <a:pt x="6528" y="16922"/>
                  </a:cubicBezTo>
                  <a:cubicBezTo>
                    <a:pt x="8755" y="16922"/>
                    <a:pt x="10138" y="15539"/>
                    <a:pt x="10138" y="12954"/>
                  </a:cubicBezTo>
                  <a:lnTo>
                    <a:pt x="10138" y="11981"/>
                  </a:lnTo>
                  <a:lnTo>
                    <a:pt x="10036" y="11981"/>
                  </a:lnTo>
                  <a:cubicBezTo>
                    <a:pt x="9370" y="12800"/>
                    <a:pt x="8090" y="13517"/>
                    <a:pt x="6477" y="13517"/>
                  </a:cubicBezTo>
                  <a:cubicBezTo>
                    <a:pt x="3098" y="13517"/>
                    <a:pt x="0" y="10573"/>
                    <a:pt x="0" y="6784"/>
                  </a:cubicBezTo>
                  <a:cubicBezTo>
                    <a:pt x="0" y="2969"/>
                    <a:pt x="3098" y="0"/>
                    <a:pt x="6477" y="0"/>
                  </a:cubicBezTo>
                  <a:cubicBezTo>
                    <a:pt x="8090" y="0"/>
                    <a:pt x="9370" y="717"/>
                    <a:pt x="10036" y="1511"/>
                  </a:cubicBezTo>
                  <a:lnTo>
                    <a:pt x="10138" y="1511"/>
                  </a:lnTo>
                  <a:lnTo>
                    <a:pt x="10138" y="409"/>
                  </a:lnTo>
                  <a:lnTo>
                    <a:pt x="12954" y="409"/>
                  </a:lnTo>
                  <a:close/>
                  <a:moveTo>
                    <a:pt x="10343" y="6784"/>
                  </a:moveTo>
                  <a:cubicBezTo>
                    <a:pt x="10343" y="4403"/>
                    <a:pt x="8756" y="2662"/>
                    <a:pt x="6733" y="2662"/>
                  </a:cubicBezTo>
                  <a:cubicBezTo>
                    <a:pt x="4685" y="2662"/>
                    <a:pt x="2970" y="4403"/>
                    <a:pt x="2970" y="6784"/>
                  </a:cubicBezTo>
                  <a:cubicBezTo>
                    <a:pt x="2970" y="9139"/>
                    <a:pt x="4685" y="10855"/>
                    <a:pt x="6733" y="10855"/>
                  </a:cubicBezTo>
                  <a:cubicBezTo>
                    <a:pt x="8755" y="10854"/>
                    <a:pt x="10343" y="9139"/>
                    <a:pt x="10343" y="6784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" name="Google Shape;74;p15"/>
            <p:cNvSpPr/>
            <p:nvPr/>
          </p:nvSpPr>
          <p:spPr>
            <a:xfrm>
              <a:off x="1655750" y="20000"/>
              <a:ext cx="74250" cy="495000"/>
            </a:xfrm>
            <a:custGeom>
              <a:avLst/>
              <a:gdLst/>
              <a:ahLst/>
              <a:cxnLst/>
              <a:rect l="l" t="t" r="r" b="b"/>
              <a:pathLst>
                <a:path w="2970" h="19800" extrusionOk="0">
                  <a:moveTo>
                    <a:pt x="2970" y="0"/>
                  </a:moveTo>
                  <a:lnTo>
                    <a:pt x="2970" y="19800"/>
                  </a:lnTo>
                  <a:lnTo>
                    <a:pt x="0" y="19800"/>
                  </a:lnTo>
                  <a:lnTo>
                    <a:pt x="0" y="0"/>
                  </a:lnTo>
                  <a:lnTo>
                    <a:pt x="2970" y="0"/>
                  </a:ln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" name="Google Shape;75;p15"/>
            <p:cNvSpPr/>
            <p:nvPr/>
          </p:nvSpPr>
          <p:spPr>
            <a:xfrm>
              <a:off x="1765825" y="187275"/>
              <a:ext cx="311700" cy="337950"/>
            </a:xfrm>
            <a:custGeom>
              <a:avLst/>
              <a:gdLst/>
              <a:ahLst/>
              <a:cxnLst/>
              <a:rect l="l" t="t" r="r" b="b"/>
              <a:pathLst>
                <a:path w="12468" h="13518" extrusionOk="0">
                  <a:moveTo>
                    <a:pt x="10035" y="8987"/>
                  </a:moveTo>
                  <a:lnTo>
                    <a:pt x="12339" y="10523"/>
                  </a:lnTo>
                  <a:cubicBezTo>
                    <a:pt x="11596" y="11624"/>
                    <a:pt x="9804" y="13518"/>
                    <a:pt x="6707" y="13518"/>
                  </a:cubicBezTo>
                  <a:cubicBezTo>
                    <a:pt x="2867" y="13518"/>
                    <a:pt x="0" y="10548"/>
                    <a:pt x="0" y="6759"/>
                  </a:cubicBezTo>
                  <a:cubicBezTo>
                    <a:pt x="0" y="2739"/>
                    <a:pt x="2893" y="0"/>
                    <a:pt x="6375" y="0"/>
                  </a:cubicBezTo>
                  <a:cubicBezTo>
                    <a:pt x="9882" y="0"/>
                    <a:pt x="11598" y="2791"/>
                    <a:pt x="12161" y="4301"/>
                  </a:cubicBezTo>
                  <a:lnTo>
                    <a:pt x="12468" y="5069"/>
                  </a:lnTo>
                  <a:lnTo>
                    <a:pt x="3431" y="8807"/>
                  </a:lnTo>
                  <a:cubicBezTo>
                    <a:pt x="4122" y="10164"/>
                    <a:pt x="5198" y="10855"/>
                    <a:pt x="6708" y="10855"/>
                  </a:cubicBezTo>
                  <a:cubicBezTo>
                    <a:pt x="8217" y="10856"/>
                    <a:pt x="9267" y="10114"/>
                    <a:pt x="10035" y="8987"/>
                  </a:cubicBezTo>
                  <a:close/>
                  <a:moveTo>
                    <a:pt x="2943" y="6555"/>
                  </a:moveTo>
                  <a:lnTo>
                    <a:pt x="8985" y="4046"/>
                  </a:lnTo>
                  <a:cubicBezTo>
                    <a:pt x="8652" y="3201"/>
                    <a:pt x="7654" y="2612"/>
                    <a:pt x="6476" y="2612"/>
                  </a:cubicBezTo>
                  <a:cubicBezTo>
                    <a:pt x="4966" y="2613"/>
                    <a:pt x="2867" y="3944"/>
                    <a:pt x="2943" y="6555"/>
                  </a:cubicBezTo>
                  <a:close/>
                </a:path>
              </a:pathLst>
            </a:custGeom>
            <a:solidFill>
              <a:srgbClr val="AEB3B7"/>
            </a:solidFill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endParaRPr sz="1400" b="0" i="0" u="none" strike="noStrike" cap="non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73726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471900" y="674775"/>
            <a:ext cx="8222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2pPr>
            <a:lvl3pPr lvl="2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3pPr>
            <a:lvl4pPr lvl="3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4pPr>
            <a:lvl5pPr lvl="4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5pPr>
            <a:lvl6pPr lvl="5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6pPr>
            <a:lvl7pPr lvl="6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7pPr>
            <a:lvl8pPr lvl="7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8pPr>
            <a:lvl9pPr lvl="8" indent="0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>
                <a:solidFill>
                  <a:schemeClr val="accent2"/>
                </a:solidFill>
              </a:defRPr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471900" y="1522175"/>
            <a:ext cx="8222100" cy="28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15000"/>
              </a:lnSpc>
              <a:spcBef>
                <a:spcPts val="1400"/>
              </a:spcBef>
              <a:spcAft>
                <a:spcPts val="1400"/>
              </a:spcAft>
              <a:buClr>
                <a:schemeClr val="accent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sldNum" idx="12"/>
          </p:nvPr>
        </p:nvSpPr>
        <p:spPr>
          <a:xfrm>
            <a:off x="8472457" y="466321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Font typeface="Arial"/>
              <a:buNone/>
              <a:defRPr sz="1000" b="0" i="0" u="none" strike="noStrike" cap="none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3" r:id="rId22"/>
    <p:sldLayoutId id="2147483684" r:id="rId23"/>
    <p:sldLayoutId id="2147483685" r:id="rId24"/>
    <p:sldLayoutId id="2147483687" r:id="rId25"/>
    <p:sldLayoutId id="2147483704" r:id="rId2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3" Type="http://schemas.openxmlformats.org/officeDocument/2006/relationships/image" Target="../media/image4.tif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image" Target="../media/image5.png"/><Relationship Id="rId3" Type="http://schemas.openxmlformats.org/officeDocument/2006/relationships/image" Target="../media/image6.svg"/><Relationship Id="rId4" Type="http://schemas.openxmlformats.org/officeDocument/2006/relationships/image" Target="../media/image7.jpeg"/><Relationship Id="rId5" Type="http://schemas.openxmlformats.org/officeDocument/2006/relationships/image" Target="../media/image8.png"/><Relationship Id="rId6" Type="http://schemas.openxmlformats.org/officeDocument/2006/relationships/image" Target="../media/image9.svg"/><Relationship Id="rId7" Type="http://schemas.openxmlformats.org/officeDocument/2006/relationships/image" Target="../media/image10.png"/><Relationship Id="rId8" Type="http://schemas.openxmlformats.org/officeDocument/2006/relationships/image" Target="../media/image11.svg"/><Relationship Id="rId9" Type="http://schemas.openxmlformats.org/officeDocument/2006/relationships/image" Target="../media/image12.png"/><Relationship Id="rId10" Type="http://schemas.openxmlformats.org/officeDocument/2006/relationships/image" Target="../media/image13.svg"/><Relationship Id="rId11" Type="http://schemas.openxmlformats.org/officeDocument/2006/relationships/image" Target="../media/image14.png"/><Relationship Id="rId12" Type="http://schemas.openxmlformats.org/officeDocument/2006/relationships/image" Target="../media/image15.sv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svg"/><Relationship Id="rId16" Type="http://schemas.openxmlformats.org/officeDocument/2006/relationships/image" Target="../media/image4.tif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9.png"/><Relationship Id="rId3" Type="http://schemas.openxmlformats.org/officeDocument/2006/relationships/image" Target="../media/image20.svg"/><Relationship Id="rId4" Type="http://schemas.openxmlformats.org/officeDocument/2006/relationships/image" Target="../media/image21.png"/><Relationship Id="rId5" Type="http://schemas.openxmlformats.org/officeDocument/2006/relationships/image" Target="../media/image22.svg"/><Relationship Id="rId6" Type="http://schemas.openxmlformats.org/officeDocument/2006/relationships/image" Target="../media/image23.png"/><Relationship Id="rId7" Type="http://schemas.openxmlformats.org/officeDocument/2006/relationships/image" Target="../media/image24.svg"/><Relationship Id="rId8" Type="http://schemas.openxmlformats.org/officeDocument/2006/relationships/image" Target="../media/image25.png"/><Relationship Id="rId9" Type="http://schemas.openxmlformats.org/officeDocument/2006/relationships/image" Target="../media/image26.svg"/><Relationship Id="rId10" Type="http://schemas.openxmlformats.org/officeDocument/2006/relationships/image" Target="../media/image27.png"/><Relationship Id="rId11" Type="http://schemas.microsoft.com/office/2007/relationships/hdphoto" Target="../media/hdphoto1.wdp"/><Relationship Id="rId12" Type="http://schemas.openxmlformats.org/officeDocument/2006/relationships/image" Target="../media/image28.jpeg"/><Relationship Id="rId13" Type="http://schemas.openxmlformats.org/officeDocument/2006/relationships/image" Target="../media/image16.png"/><Relationship Id="rId14" Type="http://schemas.openxmlformats.org/officeDocument/2006/relationships/image" Target="../media/image4.tif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9.jpeg"/><Relationship Id="rId4" Type="http://schemas.openxmlformats.org/officeDocument/2006/relationships/image" Target="../media/image4.tiff"/><Relationship Id="rId5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0.png"/><Relationship Id="rId3" Type="http://schemas.openxmlformats.org/officeDocument/2006/relationships/image" Target="../media/image16.png"/><Relationship Id="rId4" Type="http://schemas.openxmlformats.org/officeDocument/2006/relationships/image" Target="../media/image4.tif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image" Target="../media/image4.tif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image" Target="../media/image4.tiff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image" Target="../media/image4.tiff"/><Relationship Id="rId4" Type="http://schemas.openxmlformats.org/officeDocument/2006/relationships/image" Target="../media/image3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16.png"/><Relationship Id="rId5" Type="http://schemas.openxmlformats.org/officeDocument/2006/relationships/image" Target="../media/image4.tiff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34.png"/><Relationship Id="rId3" Type="http://schemas.openxmlformats.org/officeDocument/2006/relationships/image" Target="../media/image35.svg"/><Relationship Id="rId4" Type="http://schemas.openxmlformats.org/officeDocument/2006/relationships/image" Target="../media/image36.png"/><Relationship Id="rId5" Type="http://schemas.openxmlformats.org/officeDocument/2006/relationships/image" Target="../media/image37.svg"/><Relationship Id="rId6" Type="http://schemas.openxmlformats.org/officeDocument/2006/relationships/image" Target="../media/image38.png"/><Relationship Id="rId7" Type="http://schemas.openxmlformats.org/officeDocument/2006/relationships/image" Target="../media/image39.svg"/><Relationship Id="rId8" Type="http://schemas.openxmlformats.org/officeDocument/2006/relationships/image" Target="../media/image16.png"/><Relationship Id="rId9" Type="http://schemas.openxmlformats.org/officeDocument/2006/relationships/image" Target="../media/image4.tiff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Relationship Id="rId7" Type="http://schemas.openxmlformats.org/officeDocument/2006/relationships/image" Target="../media/image16.png"/><Relationship Id="rId8" Type="http://schemas.openxmlformats.org/officeDocument/2006/relationships/image" Target="../media/image4.tiff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image" Target="../media/image16.png"/><Relationship Id="rId3" Type="http://schemas.openxmlformats.org/officeDocument/2006/relationships/image" Target="../media/image40.png"/><Relationship Id="rId4" Type="http://schemas.openxmlformats.org/officeDocument/2006/relationships/image" Target="../media/image41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.tif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tiff"/><Relationship Id="rId4" Type="http://schemas.openxmlformats.org/officeDocument/2006/relationships/image" Target="../media/image16.png"/><Relationship Id="rId5" Type="http://schemas.openxmlformats.org/officeDocument/2006/relationships/image" Target="../media/image4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9.jpeg"/><Relationship Id="rId4" Type="http://schemas.openxmlformats.org/officeDocument/2006/relationships/image" Target="../media/image4.tiff"/><Relationship Id="rId5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16.png"/><Relationship Id="rId3" Type="http://schemas.openxmlformats.org/officeDocument/2006/relationships/image" Target="../media/image4.tiff"/><Relationship Id="rId4" Type="http://schemas.openxmlformats.org/officeDocument/2006/relationships/image" Target="../media/image4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FDE02AA4-3219-41F1-80E3-0F18336156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7440" y="211422"/>
            <a:ext cx="8789120" cy="702945"/>
          </a:xfrm>
        </p:spPr>
        <p:txBody>
          <a:bodyPr/>
          <a:lstStyle/>
          <a:p>
            <a:pPr algn="ctr"/>
            <a:r>
              <a:rPr lang="en-IN" b="1">
                <a:solidFill>
                  <a:srgbClr val="212121"/>
                </a:solidFill>
                <a:cs typeface="Arial"/>
                <a:sym typeface="Arial"/>
              </a:rPr>
              <a:t>Google Ads Grant Challenge – Croatan Institute</a:t>
            </a:r>
            <a:br>
              <a:rPr lang="en-IN" b="1">
                <a:cs typeface="Arial"/>
              </a:rPr>
            </a:br>
            <a:r>
              <a:rPr lang="en-GB" sz="5400" b="1">
                <a:solidFill>
                  <a:schemeClr val="tx1"/>
                </a:solidFill>
              </a:rPr>
              <a:t> </a:t>
            </a:r>
            <a:br>
              <a:rPr lang="en-IN" sz="5400" b="1"/>
            </a:br>
            <a:br>
              <a:rPr lang="en-IN" sz="5400" b="1"/>
            </a:br>
            <a:br>
              <a:rPr lang="en-US" sz="5400" b="1"/>
            </a:br>
            <a:br>
              <a:rPr lang="en-US" sz="4800"/>
            </a:br>
            <a:endParaRPr lang="en-US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21CDF74-0199-4A09-B500-9385ED61A68B}"/>
              </a:ext>
            </a:extLst>
          </p:cNvPr>
          <p:cNvSpPr/>
          <p:nvPr/>
        </p:nvSpPr>
        <p:spPr>
          <a:xfrm>
            <a:off x="0" y="3586484"/>
            <a:ext cx="9144000" cy="702945"/>
          </a:xfrm>
          <a:prstGeom prst="rect">
            <a:avLst/>
          </a:prstGeom>
          <a:solidFill>
            <a:schemeClr val="accent1">
              <a:lumMod val="60000"/>
              <a:lumOff val="40000"/>
              <a:alpha val="17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en-US" sz="1350" kern="1200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CBC8D72-6B8C-44F0-AE05-B5ED569C4A10}"/>
              </a:ext>
            </a:extLst>
          </p:cNvPr>
          <p:cNvSpPr/>
          <p:nvPr/>
        </p:nvSpPr>
        <p:spPr>
          <a:xfrm>
            <a:off x="1691640" y="3737901"/>
            <a:ext cx="6059804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685800">
              <a:buClrTx/>
            </a:pPr>
            <a:r>
              <a:rPr lang="en-GB" sz="2000" b="1">
                <a:solidFill>
                  <a:srgbClr val="C00000"/>
                </a:solidFill>
                <a:latin typeface="Roboto"/>
                <a:ea typeface="Roboto"/>
                <a:sym typeface="Roboto"/>
              </a:rPr>
              <a:t>MGMT 52170 - Digital Marketing Applications</a:t>
            </a:r>
            <a:endParaRPr lang="en-US" sz="2000" b="1">
              <a:solidFill>
                <a:srgbClr val="C00000"/>
              </a:solidFill>
              <a:latin typeface="Roboto"/>
              <a:ea typeface="Roboto"/>
              <a:sym typeface="Roboto"/>
            </a:endParaRPr>
          </a:p>
        </p:txBody>
      </p:sp>
      <p:pic>
        <p:nvPicPr>
          <p:cNvPr id="10" name="Picture 2" descr="Climate-Related Investment for Resilient Communities">
            <a:extLst>
              <a:ext uri="{FF2B5EF4-FFF2-40B4-BE49-F238E27FC236}">
                <a16:creationId xmlns:a16="http://schemas.microsoft.com/office/drawing/2014/main" id="{93F0A3C7-BCAB-4DD9-91C4-0D9BDF4BD6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1156" y="1129054"/>
            <a:ext cx="7119257" cy="16207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2F975DA-F5CB-1928-AA1B-2711C9265D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54488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Box 11">
            <a:extLst>
              <a:ext uri="{FF2B5EF4-FFF2-40B4-BE49-F238E27FC236}">
                <a16:creationId xmlns:a16="http://schemas.microsoft.com/office/drawing/2014/main" id="{1476E567-A9C2-42B5-8238-79C70455A6CC}"/>
              </a:ext>
            </a:extLst>
          </p:cNvPr>
          <p:cNvSpPr txBox="1"/>
          <p:nvPr/>
        </p:nvSpPr>
        <p:spPr>
          <a:xfrm>
            <a:off x="381126" y="822452"/>
            <a:ext cx="1787430" cy="30777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defTabSz="914378"/>
            <a:r>
              <a:rPr lang="en-IN" b="1">
                <a:solidFill>
                  <a:srgbClr val="212121"/>
                </a:solidFill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Organization Goal 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B1CC1F6-87A0-4065-9E09-5959283BEF10}"/>
              </a:ext>
            </a:extLst>
          </p:cNvPr>
          <p:cNvSpPr/>
          <p:nvPr/>
        </p:nvSpPr>
        <p:spPr>
          <a:xfrm>
            <a:off x="349411" y="2738642"/>
            <a:ext cx="3124739" cy="3755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 defTabSz="914378">
              <a:lnSpc>
                <a:spcPct val="150000"/>
              </a:lnSpc>
            </a:pPr>
            <a:r>
              <a:rPr lang="en-GB" b="1">
                <a:latin typeface="Google Sans"/>
                <a:ea typeface="Google Sans" panose="020B0604020202020204" charset="0"/>
                <a:cs typeface="Google Sans"/>
              </a:rPr>
              <a:t>Google Ads Goal</a:t>
            </a:r>
            <a:endParaRPr lang="en-IN" sz="1200">
              <a:latin typeface="Google Sans"/>
              <a:ea typeface="Google Sans" panose="020B0604020202020204" charset="0"/>
              <a:cs typeface="Google San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0728FB8-BCD4-460F-8279-E1237BA99AE9}"/>
              </a:ext>
            </a:extLst>
          </p:cNvPr>
          <p:cNvSpPr txBox="1"/>
          <p:nvPr/>
        </p:nvSpPr>
        <p:spPr>
          <a:xfrm>
            <a:off x="4736457" y="782220"/>
            <a:ext cx="2189384" cy="383951"/>
          </a:xfrm>
          <a:prstGeom prst="rect">
            <a:avLst/>
          </a:prstGeom>
          <a:noFill/>
          <a:ln w="19050">
            <a:noFill/>
          </a:ln>
        </p:spPr>
        <p:txBody>
          <a:bodyPr wrap="square" rtlCol="0" anchor="t">
            <a:spAutoFit/>
          </a:bodyPr>
          <a:lstStyle/>
          <a:p>
            <a:pPr algn="just" defTabSz="914378">
              <a:lnSpc>
                <a:spcPct val="150000"/>
              </a:lnSpc>
            </a:pPr>
            <a:r>
              <a:rPr lang="en-GB" b="1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Highlights</a:t>
            </a:r>
          </a:p>
        </p:txBody>
      </p:sp>
      <p:sp>
        <p:nvSpPr>
          <p:cNvPr id="16" name="Title 1">
            <a:extLst>
              <a:ext uri="{FF2B5EF4-FFF2-40B4-BE49-F238E27FC236}">
                <a16:creationId xmlns:a16="http://schemas.microsoft.com/office/drawing/2014/main" id="{C4E5DA6C-3F9F-4081-8F89-74FDC778B918}"/>
              </a:ext>
            </a:extLst>
          </p:cNvPr>
          <p:cNvSpPr txBox="1">
            <a:spLocks/>
          </p:cNvSpPr>
          <p:nvPr/>
        </p:nvSpPr>
        <p:spPr>
          <a:xfrm>
            <a:off x="167100" y="166441"/>
            <a:ext cx="6614100" cy="755700"/>
          </a:xfrm>
          <a:prstGeom prst="rect">
            <a:avLst/>
          </a:prstGeom>
        </p:spPr>
        <p:txBody>
          <a:bodyPr lIns="91440" tIns="45720" rIns="91440" bIns="45720" anchor="t"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chemeClr val="accent2"/>
              </a:buClr>
              <a:buSzPts val="1400"/>
            </a:pPr>
            <a:r>
              <a:rPr lang="en-US" sz="2600" b="1">
                <a:solidFill>
                  <a:srgbClr val="212121"/>
                </a:solidFill>
                <a:latin typeface="Roboto"/>
                <a:ea typeface="Roboto"/>
                <a:sym typeface="Roboto"/>
              </a:rPr>
              <a:t>Executive Summary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DB7F3CD-D377-475A-964C-D2453CD12E4B}"/>
              </a:ext>
            </a:extLst>
          </p:cNvPr>
          <p:cNvCxnSpPr>
            <a:cxnSpLocks/>
          </p:cNvCxnSpPr>
          <p:nvPr/>
        </p:nvCxnSpPr>
        <p:spPr>
          <a:xfrm>
            <a:off x="4311050" y="919282"/>
            <a:ext cx="0" cy="3775178"/>
          </a:xfrm>
          <a:prstGeom prst="line">
            <a:avLst/>
          </a:prstGeom>
          <a:ln w="34925">
            <a:solidFill>
              <a:srgbClr val="80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" name="Graphic 19" descr="Megaphone">
            <a:extLst>
              <a:ext uri="{FF2B5EF4-FFF2-40B4-BE49-F238E27FC236}">
                <a16:creationId xmlns:a16="http://schemas.microsoft.com/office/drawing/2014/main" id="{C538AF8D-B5CC-4238-9C5B-C8533802B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2596" y="1405963"/>
            <a:ext cx="365454" cy="365454"/>
          </a:xfrm>
          <a:prstGeom prst="rect">
            <a:avLst/>
          </a:prstGeom>
        </p:spPr>
      </p:pic>
      <p:sp>
        <p:nvSpPr>
          <p:cNvPr id="21" name="Rectangle 20">
            <a:extLst>
              <a:ext uri="{FF2B5EF4-FFF2-40B4-BE49-F238E27FC236}">
                <a16:creationId xmlns:a16="http://schemas.microsoft.com/office/drawing/2014/main" id="{3F08B888-9DC2-42B8-9966-CD174296E9A8}"/>
              </a:ext>
            </a:extLst>
          </p:cNvPr>
          <p:cNvSpPr/>
          <p:nvPr/>
        </p:nvSpPr>
        <p:spPr>
          <a:xfrm>
            <a:off x="761556" y="1212859"/>
            <a:ext cx="3480940" cy="144315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lvl="3" defTabSz="914378">
              <a:lnSpc>
                <a:spcPct val="150000"/>
              </a:lnSpc>
            </a:pPr>
            <a:r>
              <a:rPr lang="en-IN" sz="1200">
                <a:solidFill>
                  <a:srgbClr val="212121"/>
                </a:solidFill>
                <a:latin typeface="Google Sans"/>
                <a:ea typeface="Google Sans"/>
                <a:cs typeface="Google Sans"/>
              </a:rPr>
              <a:t>Spread awareness of their new online research tool, RAISER. Get potential customers to sign up for live demos</a:t>
            </a:r>
            <a:endParaRPr lang="en-IN" sz="700">
              <a:solidFill>
                <a:srgbClr val="212121"/>
              </a:solidFill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lvl="2" defTabSz="914378">
              <a:lnSpc>
                <a:spcPct val="150000"/>
              </a:lnSpc>
            </a:pPr>
            <a:endParaRPr lang="en-IN" sz="1000">
              <a:solidFill>
                <a:srgbClr val="212121"/>
              </a:solidFill>
              <a:latin typeface="Google Sans"/>
              <a:ea typeface="Google Sans"/>
              <a:cs typeface="Google Sans"/>
            </a:endParaRPr>
          </a:p>
          <a:p>
            <a:pPr lvl="2" defTabSz="914378">
              <a:lnSpc>
                <a:spcPct val="150000"/>
              </a:lnSpc>
            </a:pPr>
            <a:r>
              <a:rPr lang="en-IN" sz="1200">
                <a:solidFill>
                  <a:srgbClr val="212121"/>
                </a:solidFill>
                <a:latin typeface="Google Sans"/>
                <a:ea typeface="Google Sans"/>
                <a:cs typeface="Google Sans"/>
              </a:rPr>
              <a:t>What kind of ad messaging works</a:t>
            </a:r>
            <a:endParaRPr lang="en-IN">
              <a:latin typeface="Google Sans"/>
              <a:ea typeface="Google Sans"/>
              <a:cs typeface="Google Sans"/>
            </a:endParaRPr>
          </a:p>
        </p:txBody>
      </p:sp>
      <p:pic>
        <p:nvPicPr>
          <p:cNvPr id="22" name="Graphic 8">
            <a:extLst>
              <a:ext uri="{FF2B5EF4-FFF2-40B4-BE49-F238E27FC236}">
                <a16:creationId xmlns:a16="http://schemas.microsoft.com/office/drawing/2014/main" id="{5C676752-D420-4431-B640-AB297558EE8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14819" y="2333085"/>
            <a:ext cx="281008" cy="282106"/>
          </a:xfrm>
          <a:prstGeom prst="rect">
            <a:avLst/>
          </a:prstGeom>
        </p:spPr>
      </p:pic>
      <p:pic>
        <p:nvPicPr>
          <p:cNvPr id="23" name="Graphic 22" descr="Gauge">
            <a:extLst>
              <a:ext uri="{FF2B5EF4-FFF2-40B4-BE49-F238E27FC236}">
                <a16:creationId xmlns:a16="http://schemas.microsoft.com/office/drawing/2014/main" id="{66284641-7F76-4323-8864-3E52871F81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4819" y="3132383"/>
            <a:ext cx="312155" cy="312155"/>
          </a:xfrm>
          <a:prstGeom prst="rect">
            <a:avLst/>
          </a:prstGeom>
        </p:spPr>
      </p:pic>
      <p:pic>
        <p:nvPicPr>
          <p:cNvPr id="24" name="Graphic 23" descr="Upward trend">
            <a:extLst>
              <a:ext uri="{FF2B5EF4-FFF2-40B4-BE49-F238E27FC236}">
                <a16:creationId xmlns:a16="http://schemas.microsoft.com/office/drawing/2014/main" id="{BCB45A5A-5839-43F2-89B7-D3516248C4B0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1126" y="3875932"/>
            <a:ext cx="347129" cy="347129"/>
          </a:xfrm>
          <a:prstGeom prst="rect">
            <a:avLst/>
          </a:prstGeom>
        </p:spPr>
      </p:pic>
      <p:pic>
        <p:nvPicPr>
          <p:cNvPr id="25" name="Graphic 24" descr="Minimize">
            <a:extLst>
              <a:ext uri="{FF2B5EF4-FFF2-40B4-BE49-F238E27FC236}">
                <a16:creationId xmlns:a16="http://schemas.microsoft.com/office/drawing/2014/main" id="{83FB0552-AE81-40F1-97B9-D245977A93A3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98174" y="4379841"/>
            <a:ext cx="314619" cy="314619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E236BA9C-C32B-49E0-8C9A-6C527497F738}"/>
              </a:ext>
            </a:extLst>
          </p:cNvPr>
          <p:cNvSpPr/>
          <p:nvPr/>
        </p:nvSpPr>
        <p:spPr>
          <a:xfrm>
            <a:off x="758568" y="3053097"/>
            <a:ext cx="3409270" cy="16355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914378">
              <a:lnSpc>
                <a:spcPct val="200000"/>
              </a:lnSpc>
            </a:pPr>
            <a:r>
              <a:rPr lang="en-GB" sz="120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Boost visibility with relevant search intent to the RAISER landing page </a:t>
            </a:r>
          </a:p>
          <a:p>
            <a:pPr algn="just" defTabSz="914378">
              <a:lnSpc>
                <a:spcPct val="200000"/>
              </a:lnSpc>
            </a:pPr>
            <a:endParaRPr lang="en-IN" sz="20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algn="just" defTabSz="914378">
              <a:lnSpc>
                <a:spcPct val="200000"/>
              </a:lnSpc>
            </a:pPr>
            <a:r>
              <a:rPr lang="en-GB" sz="120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High Click-through-Rate</a:t>
            </a:r>
          </a:p>
          <a:p>
            <a:pPr algn="just" defTabSz="914378">
              <a:lnSpc>
                <a:spcPct val="200000"/>
              </a:lnSpc>
            </a:pPr>
            <a:endParaRPr lang="en-IN" sz="20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algn="just" defTabSz="914378">
              <a:lnSpc>
                <a:spcPct val="200000"/>
              </a:lnSpc>
            </a:pPr>
            <a:r>
              <a:rPr lang="en-GB" sz="120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Low Cost per Click</a:t>
            </a:r>
            <a:endParaRPr lang="en-IN" sz="120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D272018-14C4-438B-936E-FB95C09214F3}"/>
              </a:ext>
            </a:extLst>
          </p:cNvPr>
          <p:cNvSpPr/>
          <p:nvPr/>
        </p:nvSpPr>
        <p:spPr>
          <a:xfrm>
            <a:off x="5225224" y="1287559"/>
            <a:ext cx="2952041" cy="1281569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algn="just" defTabSz="914378">
              <a:lnSpc>
                <a:spcPct val="150000"/>
              </a:lnSpc>
            </a:pPr>
            <a:r>
              <a:rPr lang="en-GB" sz="1200" dirty="0">
                <a:latin typeface="Google Sans" panose="020B0604020202020204" charset="0"/>
                <a:ea typeface="Google Sans" panose="020B0604020202020204" charset="0"/>
                <a:cs typeface="Google Sans" panose="020B0604020202020204" charset="0"/>
              </a:rPr>
              <a:t>Increased monthly visibility by 44.7% and achieved a CTR of 3.44%</a:t>
            </a:r>
            <a:endParaRPr lang="en-GB" sz="1200" b="1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algn="just" defTabSz="914378">
              <a:lnSpc>
                <a:spcPct val="150000"/>
              </a:lnSpc>
            </a:pPr>
            <a:endParaRPr lang="en-GB" sz="500" dirty="0">
              <a:latin typeface="Google Sans" panose="020B0604020202020204" charset="0"/>
              <a:ea typeface="Google Sans" panose="020B0604020202020204" charset="0"/>
              <a:cs typeface="Google Sans" panose="020B0604020202020204" charset="0"/>
            </a:endParaRPr>
          </a:p>
          <a:p>
            <a:pPr algn="just" defTabSz="914378">
              <a:lnSpc>
                <a:spcPct val="150000"/>
              </a:lnSpc>
            </a:pPr>
            <a:r>
              <a:rPr lang="en-GB" sz="1200" dirty="0">
                <a:ea typeface="Times New Roman" panose="02020603050405020304" pitchFamily="18" charset="0"/>
              </a:rPr>
              <a:t>Actively tracked ad campaign for incremental impressions</a:t>
            </a:r>
            <a:endParaRPr lang="en-IN" sz="1400" dirty="0">
              <a:ea typeface="Arial" panose="020B0604020202020204" pitchFamily="34" charset="0"/>
            </a:endParaRPr>
          </a:p>
        </p:txBody>
      </p:sp>
      <p:pic>
        <p:nvPicPr>
          <p:cNvPr id="28" name="Graphic 27" descr="Business Growth">
            <a:extLst>
              <a:ext uri="{FF2B5EF4-FFF2-40B4-BE49-F238E27FC236}">
                <a16:creationId xmlns:a16="http://schemas.microsoft.com/office/drawing/2014/main" id="{54F8DCEE-0EB7-45F2-B92A-98B55F87078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762543" y="1389877"/>
            <a:ext cx="439175" cy="43917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92991A4B-7A63-496D-91D9-D74E0E91227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34" name="Graphic 33" descr="Circles with arrows">
            <a:extLst>
              <a:ext uri="{FF2B5EF4-FFF2-40B4-BE49-F238E27FC236}">
                <a16:creationId xmlns:a16="http://schemas.microsoft.com/office/drawing/2014/main" id="{5EA3FFB0-E801-485F-8DF0-D275FDAC32E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739046" y="1931814"/>
            <a:ext cx="439166" cy="439166"/>
          </a:xfrm>
          <a:prstGeom prst="rect">
            <a:avLst/>
          </a:prstGeom>
        </p:spPr>
      </p:pic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02AB7D93-684E-472A-A646-3AA0ACAF5418}"/>
              </a:ext>
            </a:extLst>
          </p:cNvPr>
          <p:cNvCxnSpPr>
            <a:cxnSpLocks/>
          </p:cNvCxnSpPr>
          <p:nvPr/>
        </p:nvCxnSpPr>
        <p:spPr>
          <a:xfrm>
            <a:off x="167101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29E096D3-7034-3F7E-415E-4F5C9DC58C3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218278" y="4687626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758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2B6EE8D6-6A89-451B-91DA-A2C21427CDB3}"/>
              </a:ext>
            </a:extLst>
          </p:cNvPr>
          <p:cNvGrpSpPr/>
          <p:nvPr/>
        </p:nvGrpSpPr>
        <p:grpSpPr>
          <a:xfrm>
            <a:off x="166040" y="1013988"/>
            <a:ext cx="3553526" cy="3522111"/>
            <a:chOff x="91440" y="1410726"/>
            <a:chExt cx="3633537" cy="3262250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BEA3EF4A-41E0-4425-A314-9F995C288C36}"/>
                </a:ext>
              </a:extLst>
            </p:cNvPr>
            <p:cNvGrpSpPr/>
            <p:nvPr/>
          </p:nvGrpSpPr>
          <p:grpSpPr>
            <a:xfrm>
              <a:off x="91440" y="1410726"/>
              <a:ext cx="3633537" cy="2720597"/>
              <a:chOff x="0" y="1821404"/>
              <a:chExt cx="3633537" cy="2720597"/>
            </a:xfrm>
          </p:grpSpPr>
          <p:grpSp>
            <p:nvGrpSpPr>
              <p:cNvPr id="8" name="Group 7">
                <a:extLst>
                  <a:ext uri="{FF2B5EF4-FFF2-40B4-BE49-F238E27FC236}">
                    <a16:creationId xmlns:a16="http://schemas.microsoft.com/office/drawing/2014/main" id="{C1E9179C-BEE0-478E-83B3-7F0CB6F7DB40}"/>
                  </a:ext>
                </a:extLst>
              </p:cNvPr>
              <p:cNvGrpSpPr/>
              <p:nvPr/>
            </p:nvGrpSpPr>
            <p:grpSpPr>
              <a:xfrm>
                <a:off x="288758" y="1821404"/>
                <a:ext cx="3344779" cy="468498"/>
                <a:chOff x="288758" y="1821404"/>
                <a:chExt cx="3344779" cy="468498"/>
              </a:xfrm>
            </p:grpSpPr>
            <p:sp>
              <p:nvSpPr>
                <p:cNvPr id="21" name="TextBox 20">
                  <a:extLst>
                    <a:ext uri="{FF2B5EF4-FFF2-40B4-BE49-F238E27FC236}">
                      <a16:creationId xmlns:a16="http://schemas.microsoft.com/office/drawing/2014/main" id="{E10541C9-0F48-4D75-BD8B-BCB1F04D7B55}"/>
                    </a:ext>
                  </a:extLst>
                </p:cNvPr>
                <p:cNvSpPr txBox="1"/>
                <p:nvPr/>
              </p:nvSpPr>
              <p:spPr>
                <a:xfrm>
                  <a:off x="745958" y="1821404"/>
                  <a:ext cx="2887579" cy="427604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/>
                    <a:t>1st April 2022 – 29th April 2022</a:t>
                  </a:r>
                </a:p>
                <a:p>
                  <a:r>
                    <a:rPr lang="en-US" sz="1200"/>
                    <a:t>Scheduled: All day </a:t>
                  </a:r>
                </a:p>
              </p:txBody>
            </p:sp>
            <p:pic>
              <p:nvPicPr>
                <p:cNvPr id="22" name="Graphic 21" descr="Flip calendar">
                  <a:extLst>
                    <a:ext uri="{FF2B5EF4-FFF2-40B4-BE49-F238E27FC236}">
                      <a16:creationId xmlns:a16="http://schemas.microsoft.com/office/drawing/2014/main" id="{A51C59E9-C50E-40A6-83C3-7703A31CFCA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88758" y="1832702"/>
                  <a:ext cx="457200" cy="457200"/>
                </a:xfrm>
                <a:prstGeom prst="rect">
                  <a:avLst/>
                </a:prstGeom>
              </p:spPr>
            </p:pic>
          </p:grp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5286D9EC-DCBF-4F16-BC55-DE5713FDD738}"/>
                  </a:ext>
                </a:extLst>
              </p:cNvPr>
              <p:cNvGrpSpPr/>
              <p:nvPr/>
            </p:nvGrpSpPr>
            <p:grpSpPr>
              <a:xfrm>
                <a:off x="312117" y="2458241"/>
                <a:ext cx="2360109" cy="457200"/>
                <a:chOff x="190254" y="2844514"/>
                <a:chExt cx="2360109" cy="457200"/>
              </a:xfrm>
            </p:grpSpPr>
            <p:pic>
              <p:nvPicPr>
                <p:cNvPr id="19" name="Graphic 18" descr="Pin">
                  <a:extLst>
                    <a:ext uri="{FF2B5EF4-FFF2-40B4-BE49-F238E27FC236}">
                      <a16:creationId xmlns:a16="http://schemas.microsoft.com/office/drawing/2014/main" id="{35F4F90D-40AE-4AE5-9AE0-39650DF5C60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190254" y="2844514"/>
                  <a:ext cx="457200" cy="457200"/>
                </a:xfrm>
                <a:prstGeom prst="rect">
                  <a:avLst/>
                </a:prstGeom>
              </p:spPr>
            </p:pic>
            <p:sp>
              <p:nvSpPr>
                <p:cNvPr id="20" name="TextBox 19">
                  <a:extLst>
                    <a:ext uri="{FF2B5EF4-FFF2-40B4-BE49-F238E27FC236}">
                      <a16:creationId xmlns:a16="http://schemas.microsoft.com/office/drawing/2014/main" id="{B6EF206C-EB6D-460F-8B92-418654576E4F}"/>
                    </a:ext>
                  </a:extLst>
                </p:cNvPr>
                <p:cNvSpPr txBox="1"/>
                <p:nvPr/>
              </p:nvSpPr>
              <p:spPr>
                <a:xfrm>
                  <a:off x="624097" y="2919225"/>
                  <a:ext cx="1926266" cy="2565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/>
                    <a:t>United States of America</a:t>
                  </a:r>
                </a:p>
              </p:txBody>
            </p:sp>
          </p:grpSp>
          <p:grpSp>
            <p:nvGrpSpPr>
              <p:cNvPr id="10" name="Group 9">
                <a:extLst>
                  <a:ext uri="{FF2B5EF4-FFF2-40B4-BE49-F238E27FC236}">
                    <a16:creationId xmlns:a16="http://schemas.microsoft.com/office/drawing/2014/main" id="{D785C25E-20CF-4F34-8DA2-C06235DE0E24}"/>
                  </a:ext>
                </a:extLst>
              </p:cNvPr>
              <p:cNvGrpSpPr/>
              <p:nvPr/>
            </p:nvGrpSpPr>
            <p:grpSpPr>
              <a:xfrm>
                <a:off x="312117" y="2955159"/>
                <a:ext cx="1901589" cy="457200"/>
                <a:chOff x="312117" y="3039464"/>
                <a:chExt cx="1901589" cy="457200"/>
              </a:xfrm>
            </p:grpSpPr>
            <p:pic>
              <p:nvPicPr>
                <p:cNvPr id="17" name="Graphic 16" descr="Bullseye">
                  <a:extLst>
                    <a:ext uri="{FF2B5EF4-FFF2-40B4-BE49-F238E27FC236}">
                      <a16:creationId xmlns:a16="http://schemas.microsoft.com/office/drawing/2014/main" id="{252AE88F-CDE8-4969-8706-3FB7BD8D1C1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117" y="3039464"/>
                  <a:ext cx="457200" cy="457200"/>
                </a:xfrm>
                <a:prstGeom prst="rect">
                  <a:avLst/>
                </a:prstGeom>
              </p:spPr>
            </p:pic>
            <p:sp>
              <p:nvSpPr>
                <p:cNvPr id="18" name="TextBox 17">
                  <a:extLst>
                    <a:ext uri="{FF2B5EF4-FFF2-40B4-BE49-F238E27FC236}">
                      <a16:creationId xmlns:a16="http://schemas.microsoft.com/office/drawing/2014/main" id="{431443FD-A5BF-4511-B36E-050F50A43330}"/>
                    </a:ext>
                  </a:extLst>
                </p:cNvPr>
                <p:cNvSpPr txBox="1"/>
                <p:nvPr/>
              </p:nvSpPr>
              <p:spPr>
                <a:xfrm>
                  <a:off x="787364" y="3165110"/>
                  <a:ext cx="1426342" cy="2565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/>
                    <a:t>Brand Awareness</a:t>
                  </a:r>
                </a:p>
              </p:txBody>
            </p:sp>
          </p:grp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704475A7-343D-4216-AAAE-A10352E0CD92}"/>
                  </a:ext>
                </a:extLst>
              </p:cNvPr>
              <p:cNvGrpSpPr/>
              <p:nvPr/>
            </p:nvGrpSpPr>
            <p:grpSpPr>
              <a:xfrm>
                <a:off x="330164" y="3499166"/>
                <a:ext cx="2373631" cy="457200"/>
                <a:chOff x="312117" y="4180525"/>
                <a:chExt cx="2373631" cy="457200"/>
              </a:xfrm>
            </p:grpSpPr>
            <p:pic>
              <p:nvPicPr>
                <p:cNvPr id="15" name="Graphic 14" descr="Chess pieces">
                  <a:extLst>
                    <a:ext uri="{FF2B5EF4-FFF2-40B4-BE49-F238E27FC236}">
                      <a16:creationId xmlns:a16="http://schemas.microsoft.com/office/drawing/2014/main" id="{759B037C-DCD0-4D3A-B39B-7F6FB8E9543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312117" y="4180525"/>
                  <a:ext cx="457200" cy="457200"/>
                </a:xfrm>
                <a:prstGeom prst="rect">
                  <a:avLst/>
                </a:prstGeom>
              </p:spPr>
            </p:pic>
            <p:sp>
              <p:nvSpPr>
                <p:cNvPr id="16" name="TextBox 15">
                  <a:extLst>
                    <a:ext uri="{FF2B5EF4-FFF2-40B4-BE49-F238E27FC236}">
                      <a16:creationId xmlns:a16="http://schemas.microsoft.com/office/drawing/2014/main" id="{868EE3B8-CE46-4F70-B9F8-9076A8830ACE}"/>
                    </a:ext>
                  </a:extLst>
                </p:cNvPr>
                <p:cNvSpPr txBox="1"/>
                <p:nvPr/>
              </p:nvSpPr>
              <p:spPr>
                <a:xfrm>
                  <a:off x="769317" y="4271338"/>
                  <a:ext cx="1916431" cy="25656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sz="1200"/>
                    <a:t>Target Impression Share</a:t>
                  </a:r>
                </a:p>
              </p:txBody>
            </p:sp>
          </p:grpSp>
          <p:grpSp>
            <p:nvGrpSpPr>
              <p:cNvPr id="12" name="Group 11">
                <a:extLst>
                  <a:ext uri="{FF2B5EF4-FFF2-40B4-BE49-F238E27FC236}">
                    <a16:creationId xmlns:a16="http://schemas.microsoft.com/office/drawing/2014/main" id="{5AD40E36-44AC-48DA-BECA-9325D7A8DF82}"/>
                  </a:ext>
                </a:extLst>
              </p:cNvPr>
              <p:cNvGrpSpPr/>
              <p:nvPr/>
            </p:nvGrpSpPr>
            <p:grpSpPr>
              <a:xfrm>
                <a:off x="0" y="3976517"/>
                <a:ext cx="1929458" cy="565484"/>
                <a:chOff x="0" y="3976517"/>
                <a:chExt cx="1929458" cy="565484"/>
              </a:xfrm>
            </p:grpSpPr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071A145E-11BC-47C8-BCB4-22EB5E2F1FE1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0">
                  <a:biLevel thresh="75000"/>
                  <a:extLst>
                    <a:ext uri="{BEBA8EAE-BF5A-486C-A8C5-ECC9F3942E4B}">
                      <a14:imgProps xmlns:a14="http://schemas.microsoft.com/office/drawing/2010/main">
                        <a14:imgLayer r:embed="rId11">
                          <a14:imgEffect>
                            <a14:saturation sat="33000"/>
                          </a14:imgEffect>
                        </a14:imgLayer>
                      </a14:imgProps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0" y="3976517"/>
                  <a:ext cx="1130968" cy="565484"/>
                </a:xfrm>
                <a:prstGeom prst="rect">
                  <a:avLst/>
                </a:prstGeom>
              </p:spPr>
            </p:pic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0CC46D7F-767D-4169-A95F-888B555BDCB4}"/>
                    </a:ext>
                  </a:extLst>
                </p:cNvPr>
                <p:cNvSpPr txBox="1"/>
                <p:nvPr/>
              </p:nvSpPr>
              <p:spPr>
                <a:xfrm>
                  <a:off x="817823" y="4120393"/>
                  <a:ext cx="1111635" cy="256562"/>
                </a:xfrm>
                <a:prstGeom prst="rect">
                  <a:avLst/>
                </a:prstGeom>
                <a:noFill/>
              </p:spPr>
              <p:txBody>
                <a:bodyPr wrap="none" rtlCol="0" anchor="t">
                  <a:spAutoFit/>
                </a:bodyPr>
                <a:lstStyle/>
                <a:p>
                  <a:r>
                    <a:rPr lang="en-US" sz="1200" dirty="0"/>
                    <a:t>4 Campaigns</a:t>
                  </a:r>
                </a:p>
              </p:txBody>
            </p:sp>
          </p:grp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B56F8F1F-7DD5-4547-BD7C-3C114C8E5DA5}"/>
                </a:ext>
              </a:extLst>
            </p:cNvPr>
            <p:cNvGrpSpPr/>
            <p:nvPr/>
          </p:nvGrpSpPr>
          <p:grpSpPr>
            <a:xfrm>
              <a:off x="380198" y="4113545"/>
              <a:ext cx="1947209" cy="559431"/>
              <a:chOff x="380198" y="4113545"/>
              <a:chExt cx="1947209" cy="559431"/>
            </a:xfrm>
          </p:grpSpPr>
          <p:pic>
            <p:nvPicPr>
              <p:cNvPr id="6" name="Picture 5">
                <a:extLst>
                  <a:ext uri="{FF2B5EF4-FFF2-40B4-BE49-F238E27FC236}">
                    <a16:creationId xmlns:a16="http://schemas.microsoft.com/office/drawing/2014/main" id="{B000691A-F6C9-4863-A4CC-EEC7D52A94F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12"/>
              <a:srcRect b="7810"/>
              <a:stretch/>
            </p:blipFill>
            <p:spPr>
              <a:xfrm>
                <a:off x="380198" y="4113545"/>
                <a:ext cx="561872" cy="559431"/>
              </a:xfrm>
              <a:prstGeom prst="rect">
                <a:avLst/>
              </a:prstGeom>
            </p:spPr>
          </p:pic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BB37FEF-10D6-45DC-9A60-705144DCF733}"/>
                  </a:ext>
                </a:extLst>
              </p:cNvPr>
              <p:cNvSpPr txBox="1"/>
              <p:nvPr/>
            </p:nvSpPr>
            <p:spPr>
              <a:xfrm>
                <a:off x="909262" y="4239137"/>
                <a:ext cx="1418145" cy="256562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lstStyle/>
              <a:p>
                <a:r>
                  <a:rPr lang="en-US" sz="1200">
                    <a:solidFill>
                      <a:schemeClr val="tx1"/>
                    </a:solidFill>
                  </a:rPr>
                  <a:t>Budget: $329/day</a:t>
                </a:r>
              </a:p>
            </p:txBody>
          </p:sp>
        </p:grpSp>
      </p:grpSp>
      <p:sp>
        <p:nvSpPr>
          <p:cNvPr id="23" name="Title 1">
            <a:extLst>
              <a:ext uri="{FF2B5EF4-FFF2-40B4-BE49-F238E27FC236}">
                <a16:creationId xmlns:a16="http://schemas.microsoft.com/office/drawing/2014/main" id="{C00D595A-D412-4456-8FA0-2F876A0324BD}"/>
              </a:ext>
            </a:extLst>
          </p:cNvPr>
          <p:cNvSpPr txBox="1">
            <a:spLocks/>
          </p:cNvSpPr>
          <p:nvPr/>
        </p:nvSpPr>
        <p:spPr>
          <a:xfrm>
            <a:off x="167100" y="92933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212121"/>
                </a:solidFill>
              </a:rPr>
              <a:t>Campaign Overview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B8AFEE9-C2E0-4381-ABB3-0F7E29452782}"/>
              </a:ext>
            </a:extLst>
          </p:cNvPr>
          <p:cNvCxnSpPr>
            <a:cxnSpLocks/>
          </p:cNvCxnSpPr>
          <p:nvPr/>
        </p:nvCxnSpPr>
        <p:spPr>
          <a:xfrm>
            <a:off x="167100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5" name="Table 2">
            <a:extLst>
              <a:ext uri="{FF2B5EF4-FFF2-40B4-BE49-F238E27FC236}">
                <a16:creationId xmlns:a16="http://schemas.microsoft.com/office/drawing/2014/main" id="{A1CE92A7-4E0C-480C-8369-22AB0EF12A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5690748"/>
              </p:ext>
            </p:extLst>
          </p:nvPr>
        </p:nvGraphicFramePr>
        <p:xfrm>
          <a:off x="4122794" y="1307269"/>
          <a:ext cx="4421821" cy="2429845"/>
        </p:xfrm>
        <a:graphic>
          <a:graphicData uri="http://schemas.openxmlformats.org/drawingml/2006/table">
            <a:tbl>
              <a:tblPr firstRow="1" bandRow="1">
                <a:tableStyleId>{459FDDED-E816-49B8-A515-81FDA929BD25}</a:tableStyleId>
              </a:tblPr>
              <a:tblGrid>
                <a:gridCol w="2402894">
                  <a:extLst>
                    <a:ext uri="{9D8B030D-6E8A-4147-A177-3AD203B41FA5}">
                      <a16:colId xmlns:a16="http://schemas.microsoft.com/office/drawing/2014/main" val="3750161027"/>
                    </a:ext>
                  </a:extLst>
                </a:gridCol>
                <a:gridCol w="2018927">
                  <a:extLst>
                    <a:ext uri="{9D8B030D-6E8A-4147-A177-3AD203B41FA5}">
                      <a16:colId xmlns:a16="http://schemas.microsoft.com/office/drawing/2014/main" val="2051713883"/>
                    </a:ext>
                  </a:extLst>
                </a:gridCol>
              </a:tblGrid>
              <a:tr h="485969"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b="1">
                          <a:solidFill>
                            <a:schemeClr val="bg1"/>
                          </a:solidFill>
                        </a:rPr>
                        <a:t>Value</a:t>
                      </a:r>
                    </a:p>
                  </a:txBody>
                  <a:tcPr anchor="ctr"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0768997"/>
                  </a:ext>
                </a:extLst>
              </a:tr>
              <a:tr h="485969">
                <a:tc>
                  <a:txBody>
                    <a:bodyPr/>
                    <a:lstStyle/>
                    <a:p>
                      <a:r>
                        <a:rPr lang="en-US" b="1"/>
                        <a:t>Impressions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291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48521126"/>
                  </a:ext>
                </a:extLst>
              </a:tr>
              <a:tr h="485969">
                <a:tc>
                  <a:txBody>
                    <a:bodyPr/>
                    <a:lstStyle/>
                    <a:p>
                      <a:r>
                        <a:rPr lang="en-US" b="1"/>
                        <a:t>Clicks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10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281550"/>
                  </a:ext>
                </a:extLst>
              </a:tr>
              <a:tr h="485969">
                <a:tc>
                  <a:txBody>
                    <a:bodyPr/>
                    <a:lstStyle/>
                    <a:p>
                      <a:r>
                        <a:rPr lang="en-US" b="1"/>
                        <a:t>CTR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3.44%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5520078"/>
                  </a:ext>
                </a:extLst>
              </a:tr>
              <a:tr h="485969">
                <a:tc>
                  <a:txBody>
                    <a:bodyPr/>
                    <a:lstStyle/>
                    <a:p>
                      <a:r>
                        <a:rPr lang="en-US" b="1"/>
                        <a:t>Avg. CPC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$0.31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57113703"/>
                  </a:ext>
                </a:extLst>
              </a:tr>
            </a:tbl>
          </a:graphicData>
        </a:graphic>
      </p:graphicFrame>
      <p:pic>
        <p:nvPicPr>
          <p:cNvPr id="2" name="Picture 1">
            <a:extLst>
              <a:ext uri="{FF2B5EF4-FFF2-40B4-BE49-F238E27FC236}">
                <a16:creationId xmlns:a16="http://schemas.microsoft.com/office/drawing/2014/main" id="{667863A5-96EF-798B-4251-7E8EFB23A96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BF78341-FE1C-2240-E28F-C06B34CB1390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243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DB3BBD7-DC61-AD4F-BCE6-7ACD0AC2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0" y="101098"/>
            <a:ext cx="6614100" cy="755700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Campaign Structure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B9AAA2-E17A-7741-921E-9E14A1010E78}"/>
              </a:ext>
            </a:extLst>
          </p:cNvPr>
          <p:cNvCxnSpPr>
            <a:cxnSpLocks/>
          </p:cNvCxnSpPr>
          <p:nvPr/>
        </p:nvCxnSpPr>
        <p:spPr>
          <a:xfrm>
            <a:off x="167101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0D5FB23-0BA5-E847-9C2B-A467E97F3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44" y="57967"/>
            <a:ext cx="734785" cy="489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FCD4FB-52B8-AF43-801E-C277F9CE9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804" y="4649147"/>
            <a:ext cx="716289" cy="402913"/>
          </a:xfrm>
          <a:prstGeom prst="rect">
            <a:avLst/>
          </a:prstGeom>
        </p:spPr>
      </p:pic>
      <p:sp>
        <p:nvSpPr>
          <p:cNvPr id="2" name="Oval 1">
            <a:extLst>
              <a:ext uri="{FF2B5EF4-FFF2-40B4-BE49-F238E27FC236}">
                <a16:creationId xmlns:a16="http://schemas.microsoft.com/office/drawing/2014/main" id="{7289B392-6518-47F4-BCBB-3243C48E2ABA}"/>
              </a:ext>
            </a:extLst>
          </p:cNvPr>
          <p:cNvSpPr/>
          <p:nvPr/>
        </p:nvSpPr>
        <p:spPr>
          <a:xfrm>
            <a:off x="502986" y="856798"/>
            <a:ext cx="1178857" cy="684812"/>
          </a:xfrm>
          <a:prstGeom prst="ellipse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>
                <a:cs typeface="Arial"/>
              </a:rPr>
              <a:t>Non-Brand</a:t>
            </a:r>
            <a:endParaRPr lang="en-GB">
              <a:cs typeface="Arial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C0D10997-EBE5-47D4-9AA7-565A535BD741}"/>
              </a:ext>
            </a:extLst>
          </p:cNvPr>
          <p:cNvSpPr/>
          <p:nvPr/>
        </p:nvSpPr>
        <p:spPr>
          <a:xfrm>
            <a:off x="2337792" y="856798"/>
            <a:ext cx="1264275" cy="684809"/>
          </a:xfrm>
          <a:prstGeom prst="ellipse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cs typeface="Arial"/>
              </a:rPr>
              <a:t>Brand</a:t>
            </a:r>
            <a:endParaRPr lang="en-US" sz="1600" b="1" dirty="0">
              <a:cs typeface="Arial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BBF7C4F-5BD8-4069-9C4D-196CF2839D25}"/>
              </a:ext>
            </a:extLst>
          </p:cNvPr>
          <p:cNvSpPr/>
          <p:nvPr/>
        </p:nvSpPr>
        <p:spPr>
          <a:xfrm>
            <a:off x="4373558" y="873576"/>
            <a:ext cx="1830376" cy="684812"/>
          </a:xfrm>
          <a:prstGeom prst="ellipse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cs typeface="Arial"/>
              </a:rPr>
              <a:t>Generic Non-Brand</a:t>
            </a:r>
            <a:endParaRPr lang="en-GB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FBA75-FB86-23C6-5AEF-96878B28F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4DA6534E-1995-467D-A3E3-5791B9F6395A}"/>
              </a:ext>
            </a:extLst>
          </p:cNvPr>
          <p:cNvSpPr txBox="1"/>
          <p:nvPr/>
        </p:nvSpPr>
        <p:spPr>
          <a:xfrm>
            <a:off x="1681843" y="1558388"/>
            <a:ext cx="2691715" cy="430887"/>
          </a:xfrm>
          <a:prstGeom prst="rect">
            <a:avLst/>
          </a:prstGeom>
          <a:noFill/>
          <a:ln>
            <a:solidFill>
              <a:schemeClr val="bg2">
                <a:lumMod val="40000"/>
                <a:lumOff val="60000"/>
              </a:schemeClr>
            </a:solidFill>
          </a:ln>
        </p:spPr>
        <p:txBody>
          <a:bodyPr wrap="square">
            <a:spAutoFit/>
          </a:bodyPr>
          <a:lstStyle/>
          <a:p>
            <a:pPr algn="ctr" fontAlgn="b"/>
            <a:r>
              <a:rPr lang="en-IN" sz="1100" dirty="0"/>
              <a:t>Same as Non-Brand but with brand terms ‘</a:t>
            </a:r>
            <a:r>
              <a:rPr lang="en-IN" sz="1100" dirty="0" err="1"/>
              <a:t>croatan</a:t>
            </a:r>
            <a:r>
              <a:rPr lang="en-IN" sz="1100" dirty="0"/>
              <a:t>’ or ‘raiser’</a:t>
            </a:r>
          </a:p>
        </p:txBody>
      </p:sp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A5D385D4-440A-439E-8987-D9C3E9CA72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8107438"/>
              </p:ext>
            </p:extLst>
          </p:nvPr>
        </p:nvGraphicFramePr>
        <p:xfrm>
          <a:off x="4650321" y="1906424"/>
          <a:ext cx="1463867" cy="620497"/>
        </p:xfrm>
        <a:graphic>
          <a:graphicData uri="http://schemas.openxmlformats.org/drawingml/2006/table">
            <a:tbl>
              <a:tblPr>
                <a:tableStyleId>{459FDDED-E816-49B8-A515-81FDA929BD25}</a:tableStyleId>
              </a:tblPr>
              <a:tblGrid>
                <a:gridCol w="1463867">
                  <a:extLst>
                    <a:ext uri="{9D8B030D-6E8A-4147-A177-3AD203B41FA5}">
                      <a16:colId xmlns:a16="http://schemas.microsoft.com/office/drawing/2014/main" val="3910450165"/>
                    </a:ext>
                  </a:extLst>
                </a:gridCol>
              </a:tblGrid>
              <a:tr h="306097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Mutual Funds</a:t>
                      </a:r>
                    </a:p>
                  </a:txBody>
                  <a:tcPr marL="7457" marR="7457" marT="7457" marB="0" anchor="ctr"/>
                </a:tc>
                <a:extLst>
                  <a:ext uri="{0D108BD9-81ED-4DB2-BD59-A6C34878D82A}">
                    <a16:rowId xmlns:a16="http://schemas.microsoft.com/office/drawing/2014/main" val="2128424981"/>
                  </a:ext>
                </a:extLst>
              </a:tr>
              <a:tr h="3144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Index Funds</a:t>
                      </a:r>
                    </a:p>
                  </a:txBody>
                  <a:tcPr marL="7457" marR="7457" marT="7457" marB="0" anchor="ctr"/>
                </a:tc>
                <a:extLst>
                  <a:ext uri="{0D108BD9-81ED-4DB2-BD59-A6C34878D82A}">
                    <a16:rowId xmlns:a16="http://schemas.microsoft.com/office/drawing/2014/main" val="1932636040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F03E5C-2106-4CFB-B22B-3DF4AE38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0041635"/>
              </p:ext>
            </p:extLst>
          </p:nvPr>
        </p:nvGraphicFramePr>
        <p:xfrm>
          <a:off x="167100" y="2034966"/>
          <a:ext cx="4206458" cy="2614181"/>
        </p:xfrm>
        <a:graphic>
          <a:graphicData uri="http://schemas.openxmlformats.org/drawingml/2006/table">
            <a:tbl>
              <a:tblPr>
                <a:tableStyleId>{459FDDED-E816-49B8-A515-81FDA929BD25}</a:tableStyleId>
              </a:tblPr>
              <a:tblGrid>
                <a:gridCol w="2059460">
                  <a:extLst>
                    <a:ext uri="{9D8B030D-6E8A-4147-A177-3AD203B41FA5}">
                      <a16:colId xmlns:a16="http://schemas.microsoft.com/office/drawing/2014/main" val="458798960"/>
                    </a:ext>
                  </a:extLst>
                </a:gridCol>
                <a:gridCol w="2146998">
                  <a:extLst>
                    <a:ext uri="{9D8B030D-6E8A-4147-A177-3AD203B41FA5}">
                      <a16:colId xmlns:a16="http://schemas.microsoft.com/office/drawing/2014/main" val="2677753122"/>
                    </a:ext>
                  </a:extLst>
                </a:gridCol>
              </a:tblGrid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Bonds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Ethical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2593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Conscious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Green Bonds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1710460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Consultant/Investor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Impact Capital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6682581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Eco Friendly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Impact Funds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5497069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Environmental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Impact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9404224"/>
                  </a:ext>
                </a:extLst>
              </a:tr>
              <a:tr h="43821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ESG Funds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Socially Responsible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6645797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ESG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Sri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5211266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ESG Stocks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Sustainable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5745947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ESG Broad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Thematic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1431921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ETFs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4664881"/>
                  </a:ext>
                </a:extLst>
              </a:tr>
            </a:tbl>
          </a:graphicData>
        </a:graphic>
      </p:graphicFrame>
      <p:sp>
        <p:nvSpPr>
          <p:cNvPr id="15" name="Oval 14">
            <a:extLst>
              <a:ext uri="{FF2B5EF4-FFF2-40B4-BE49-F238E27FC236}">
                <a16:creationId xmlns:a16="http://schemas.microsoft.com/office/drawing/2014/main" id="{EDCBA7D5-9D05-480D-AB63-604A527433B8}"/>
              </a:ext>
            </a:extLst>
          </p:cNvPr>
          <p:cNvSpPr/>
          <p:nvPr/>
        </p:nvSpPr>
        <p:spPr>
          <a:xfrm>
            <a:off x="6735815" y="856798"/>
            <a:ext cx="1905199" cy="684809"/>
          </a:xfrm>
          <a:prstGeom prst="ellipse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cs typeface="Arial"/>
              </a:rPr>
              <a:t>DSA Campaign</a:t>
            </a:r>
            <a:endParaRPr lang="en-US" sz="1600" b="1" dirty="0">
              <a:cs typeface="Arial"/>
            </a:endParaRP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639BE7FB-9EE3-4B19-9EF0-6C7C5186E7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59627913"/>
              </p:ext>
            </p:extLst>
          </p:nvPr>
        </p:nvGraphicFramePr>
        <p:xfrm>
          <a:off x="6875034" y="1906424"/>
          <a:ext cx="1654845" cy="684809"/>
        </p:xfrm>
        <a:graphic>
          <a:graphicData uri="http://schemas.openxmlformats.org/drawingml/2006/table">
            <a:tbl>
              <a:tblPr>
                <a:tableStyleId>{459FDDED-E816-49B8-A515-81FDA929BD25}</a:tableStyleId>
              </a:tblPr>
              <a:tblGrid>
                <a:gridCol w="1654845">
                  <a:extLst>
                    <a:ext uri="{9D8B030D-6E8A-4147-A177-3AD203B41FA5}">
                      <a16:colId xmlns:a16="http://schemas.microsoft.com/office/drawing/2014/main" val="3910450165"/>
                    </a:ext>
                  </a:extLst>
                </a:gridCol>
              </a:tblGrid>
              <a:tr h="684809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https://croataninstitute.org/raiser/</a:t>
                      </a:r>
                    </a:p>
                  </a:txBody>
                  <a:tcPr marL="7457" marR="7457" marT="7457" marB="0" anchor="ctr"/>
                </a:tc>
                <a:extLst>
                  <a:ext uri="{0D108BD9-81ED-4DB2-BD59-A6C34878D82A}">
                    <a16:rowId xmlns:a16="http://schemas.microsoft.com/office/drawing/2014/main" val="21284249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39207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13" grpId="0" animBg="1"/>
      <p:bldP spid="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4C6A1F9-E9DE-4F38-BE70-4282CFC2D8F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0761410"/>
              </p:ext>
            </p:extLst>
          </p:nvPr>
        </p:nvGraphicFramePr>
        <p:xfrm>
          <a:off x="1142491" y="1042942"/>
          <a:ext cx="6614100" cy="2911831"/>
        </p:xfrm>
        <a:graphic>
          <a:graphicData uri="http://schemas.openxmlformats.org/drawingml/2006/table">
            <a:tbl>
              <a:tblPr firstRow="1" bandRow="1">
                <a:tableStyleId>{459FDDED-E816-49B8-A515-81FDA929BD25}</a:tableStyleId>
              </a:tblPr>
              <a:tblGrid>
                <a:gridCol w="2204700">
                  <a:extLst>
                    <a:ext uri="{9D8B030D-6E8A-4147-A177-3AD203B41FA5}">
                      <a16:colId xmlns:a16="http://schemas.microsoft.com/office/drawing/2014/main" val="4187023992"/>
                    </a:ext>
                  </a:extLst>
                </a:gridCol>
                <a:gridCol w="2204700">
                  <a:extLst>
                    <a:ext uri="{9D8B030D-6E8A-4147-A177-3AD203B41FA5}">
                      <a16:colId xmlns:a16="http://schemas.microsoft.com/office/drawing/2014/main" val="3596615672"/>
                    </a:ext>
                  </a:extLst>
                </a:gridCol>
                <a:gridCol w="2204700">
                  <a:extLst>
                    <a:ext uri="{9D8B030D-6E8A-4147-A177-3AD203B41FA5}">
                      <a16:colId xmlns:a16="http://schemas.microsoft.com/office/drawing/2014/main" val="3944429120"/>
                    </a:ext>
                  </a:extLst>
                </a:gridCol>
              </a:tblGrid>
              <a:tr h="340102"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Ad Groups</a:t>
                      </a:r>
                    </a:p>
                  </a:txBody>
                  <a:tcPr marL="68580" marR="68580" marT="34290" marB="34290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Keywords</a:t>
                      </a:r>
                    </a:p>
                  </a:txBody>
                  <a:tcPr marL="68580" marR="68580" marT="34290" marB="34290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1">
                          <a:solidFill>
                            <a:schemeClr val="bg1"/>
                          </a:solidFill>
                        </a:rPr>
                        <a:t>Match Type</a:t>
                      </a:r>
                    </a:p>
                  </a:txBody>
                  <a:tcPr marL="68580" marR="68580" marT="34290" marB="34290"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7722802"/>
                  </a:ext>
                </a:extLst>
              </a:tr>
              <a:tr h="2571729">
                <a:tc>
                  <a:txBody>
                    <a:bodyPr/>
                    <a:lstStyle/>
                    <a:p>
                      <a:pPr marL="342900" lvl="0" indent="-342900">
                        <a:buFont typeface="+mj-lt"/>
                        <a:buAutoNum type="arabicPeriod"/>
                      </a:pPr>
                      <a:endParaRPr lang="en-GB" sz="1200"/>
                    </a:p>
                  </a:txBody>
                  <a:tcPr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+mj-lt"/>
                        <a:buAutoNum type="arabicPeriod"/>
                        <a:tabLst/>
                        <a:defRPr/>
                      </a:pPr>
                      <a:endParaRPr kumimoji="0" lang="en-GB" sz="1200" b="0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212121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  <a:sym typeface="Arial"/>
                      </a:endParaRPr>
                    </a:p>
                  </a:txBody>
                  <a:tcPr marL="68580" marR="68580" marT="34290" marB="34290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+mj-lt"/>
                        <a:buAutoNum type="arabicPeriod"/>
                      </a:pPr>
                      <a:endParaRPr lang="en-US" sz="1100"/>
                    </a:p>
                  </a:txBody>
                  <a:tcPr marL="68580" marR="68580" marT="34290" marB="34290"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0337175"/>
                  </a:ext>
                </a:extLst>
              </a:tr>
            </a:tbl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67BAADB-538A-475C-B939-DFF02307F6A2}"/>
              </a:ext>
            </a:extLst>
          </p:cNvPr>
          <p:cNvSpPr txBox="1">
            <a:spLocks/>
          </p:cNvSpPr>
          <p:nvPr/>
        </p:nvSpPr>
        <p:spPr>
          <a:xfrm>
            <a:off x="300347" y="604333"/>
            <a:ext cx="6614100" cy="3976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1800">
                <a:solidFill>
                  <a:schemeClr val="tx1"/>
                </a:solidFill>
                <a:latin typeface="+mj-lt"/>
              </a:rPr>
              <a:t>Ad Group – Sustainable Investing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35AD26-AAA1-44A2-88FA-A83E68B19612}"/>
              </a:ext>
            </a:extLst>
          </p:cNvPr>
          <p:cNvSpPr txBox="1"/>
          <p:nvPr/>
        </p:nvSpPr>
        <p:spPr>
          <a:xfrm>
            <a:off x="6715513" y="645313"/>
            <a:ext cx="241586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50" i="1"/>
              <a:t>Responsive Search Ad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1BD5B4D-A535-4F47-A315-A8A4E28B6D77}"/>
              </a:ext>
            </a:extLst>
          </p:cNvPr>
          <p:cNvSpPr txBox="1">
            <a:spLocks/>
          </p:cNvSpPr>
          <p:nvPr/>
        </p:nvSpPr>
        <p:spPr>
          <a:xfrm>
            <a:off x="167100" y="70484"/>
            <a:ext cx="2877314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Campaign Design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64E7B5B-032B-4D46-8A4C-89D078FB7C63}"/>
              </a:ext>
            </a:extLst>
          </p:cNvPr>
          <p:cNvCxnSpPr>
            <a:cxnSpLocks/>
          </p:cNvCxnSpPr>
          <p:nvPr/>
        </p:nvCxnSpPr>
        <p:spPr>
          <a:xfrm>
            <a:off x="167100" y="620149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D192F730-10BF-498E-ACE1-C72F91DBF7CE}"/>
              </a:ext>
            </a:extLst>
          </p:cNvPr>
          <p:cNvSpPr txBox="1">
            <a:spLocks/>
          </p:cNvSpPr>
          <p:nvPr/>
        </p:nvSpPr>
        <p:spPr>
          <a:xfrm>
            <a:off x="2861062" y="110243"/>
            <a:ext cx="2877314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- Ad Example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DA75E9-170C-4359-998E-B05C5A4F22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5445" y="1336089"/>
            <a:ext cx="6780953" cy="3239964"/>
          </a:xfrm>
          <a:prstGeom prst="rect">
            <a:avLst/>
          </a:prstGeom>
        </p:spPr>
      </p:pic>
      <p:grpSp>
        <p:nvGrpSpPr>
          <p:cNvPr id="10" name="Group 9">
            <a:extLst>
              <a:ext uri="{FF2B5EF4-FFF2-40B4-BE49-F238E27FC236}">
                <a16:creationId xmlns:a16="http://schemas.microsoft.com/office/drawing/2014/main" id="{AFBF9D7C-F008-463D-BC29-EADFA2AD0604}"/>
              </a:ext>
            </a:extLst>
          </p:cNvPr>
          <p:cNvGrpSpPr/>
          <p:nvPr/>
        </p:nvGrpSpPr>
        <p:grpSpPr>
          <a:xfrm>
            <a:off x="1455355" y="2894085"/>
            <a:ext cx="8693059" cy="1604102"/>
            <a:chOff x="3673452" y="3059123"/>
            <a:chExt cx="5212090" cy="455180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2D5FA7E-87D4-406D-A9AA-BC8B62EE819D}"/>
                </a:ext>
              </a:extLst>
            </p:cNvPr>
            <p:cNvSpPr txBox="1"/>
            <p:nvPr/>
          </p:nvSpPr>
          <p:spPr>
            <a:xfrm>
              <a:off x="7467930" y="3249596"/>
              <a:ext cx="1417612" cy="74234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GB" sz="1100" b="1" dirty="0">
                  <a:solidFill>
                    <a:schemeClr val="tx1"/>
                  </a:solidFill>
                </a:rPr>
                <a:t>Sitelink extension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636617D7-3CE1-4D09-839E-C7D1F08CB844}"/>
                </a:ext>
              </a:extLst>
            </p:cNvPr>
            <p:cNvSpPr/>
            <p:nvPr/>
          </p:nvSpPr>
          <p:spPr>
            <a:xfrm>
              <a:off x="3673452" y="3059123"/>
              <a:ext cx="3797414" cy="455180"/>
            </a:xfrm>
            <a:prstGeom prst="rect">
              <a:avLst/>
            </a:prstGeom>
            <a:noFill/>
            <a:ln w="12700"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14" name="Rectangle 13">
            <a:extLst>
              <a:ext uri="{FF2B5EF4-FFF2-40B4-BE49-F238E27FC236}">
                <a16:creationId xmlns:a16="http://schemas.microsoft.com/office/drawing/2014/main" id="{6682A34C-886A-4D52-87EE-BF49500B8719}"/>
              </a:ext>
            </a:extLst>
          </p:cNvPr>
          <p:cNvSpPr/>
          <p:nvPr/>
        </p:nvSpPr>
        <p:spPr>
          <a:xfrm>
            <a:off x="1235509" y="2602826"/>
            <a:ext cx="4612532" cy="182880"/>
          </a:xfrm>
          <a:prstGeom prst="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">
            <a:extLst>
              <a:ext uri="{FF2B5EF4-FFF2-40B4-BE49-F238E27FC236}">
                <a16:creationId xmlns:a16="http://schemas.microsoft.com/office/drawing/2014/main" id="{E984FCF7-9659-441E-BC71-07BDFA510C9C}"/>
              </a:ext>
            </a:extLst>
          </p:cNvPr>
          <p:cNvSpPr txBox="1"/>
          <p:nvPr/>
        </p:nvSpPr>
        <p:spPr>
          <a:xfrm>
            <a:off x="5925087" y="2567308"/>
            <a:ext cx="1420481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050" b="1">
                <a:solidFill>
                  <a:schemeClr val="tx1"/>
                </a:solidFill>
              </a:rPr>
              <a:t>Callouts Extension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CE1CDA3-5029-437B-A587-1B0EA663DB99}"/>
              </a:ext>
            </a:extLst>
          </p:cNvPr>
          <p:cNvSpPr/>
          <p:nvPr/>
        </p:nvSpPr>
        <p:spPr>
          <a:xfrm>
            <a:off x="2974501" y="1556393"/>
            <a:ext cx="1597499" cy="182880"/>
          </a:xfrm>
          <a:prstGeom prst="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">
            <a:extLst>
              <a:ext uri="{FF2B5EF4-FFF2-40B4-BE49-F238E27FC236}">
                <a16:creationId xmlns:a16="http://schemas.microsoft.com/office/drawing/2014/main" id="{59E3F26E-0153-4148-A9F8-5D27952CE781}"/>
              </a:ext>
            </a:extLst>
          </p:cNvPr>
          <p:cNvSpPr txBox="1"/>
          <p:nvPr/>
        </p:nvSpPr>
        <p:spPr>
          <a:xfrm>
            <a:off x="4649046" y="1520875"/>
            <a:ext cx="1420481" cy="253916"/>
          </a:xfrm>
          <a:prstGeom prst="rect">
            <a:avLst/>
          </a:prstGeom>
          <a:noFill/>
          <a:ln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GB" sz="1050" b="1">
                <a:solidFill>
                  <a:schemeClr val="tx1"/>
                </a:solidFill>
              </a:rPr>
              <a:t>Path 1 and 2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839654F0-ACB8-8029-C97F-0325562411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CFFBD8D-D6F4-2643-2962-7395A0F264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97673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9" grpId="0"/>
      <p:bldP spid="14" grpId="0" animBg="1"/>
      <p:bldP spid="15" grpId="0"/>
      <p:bldP spid="16" grpId="0" animBg="1"/>
      <p:bldP spid="17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nip Single Corner Rectangle 4">
            <a:extLst>
              <a:ext uri="{FF2B5EF4-FFF2-40B4-BE49-F238E27FC236}">
                <a16:creationId xmlns:a16="http://schemas.microsoft.com/office/drawing/2014/main" id="{6B8895D4-C86C-4579-B151-6357C5D5164A}"/>
              </a:ext>
            </a:extLst>
          </p:cNvPr>
          <p:cNvSpPr/>
          <p:nvPr/>
        </p:nvSpPr>
        <p:spPr>
          <a:xfrm>
            <a:off x="397524" y="840410"/>
            <a:ext cx="4625400" cy="3689320"/>
          </a:xfrm>
          <a:prstGeom prst="snip1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>
              <a:solidFill>
                <a:srgbClr val="499451"/>
              </a:solidFill>
              <a:cs typeface="Arial"/>
            </a:endParaRPr>
          </a:p>
        </p:txBody>
      </p:sp>
      <p:sp>
        <p:nvSpPr>
          <p:cNvPr id="4" name="Snip Single Corner Rectangle 4">
            <a:extLst>
              <a:ext uri="{FF2B5EF4-FFF2-40B4-BE49-F238E27FC236}">
                <a16:creationId xmlns:a16="http://schemas.microsoft.com/office/drawing/2014/main" id="{53BA3F81-D400-4B1B-B7BA-E1D0787069AB}"/>
              </a:ext>
            </a:extLst>
          </p:cNvPr>
          <p:cNvSpPr/>
          <p:nvPr/>
        </p:nvSpPr>
        <p:spPr>
          <a:xfrm>
            <a:off x="5993910" y="1282513"/>
            <a:ext cx="2588230" cy="2966859"/>
          </a:xfrm>
          <a:prstGeom prst="snip1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r>
              <a:rPr lang="en-US" b="1" dirty="0">
                <a:solidFill>
                  <a:srgbClr val="C00000"/>
                </a:solidFill>
                <a:cs typeface="Arial"/>
              </a:rPr>
              <a:t>Impact</a:t>
            </a:r>
            <a:endParaRPr lang="en-US" dirty="0">
              <a:solidFill>
                <a:srgbClr val="C00000"/>
              </a:solidFill>
              <a:cs typeface="Arial"/>
            </a:endParaRPr>
          </a:p>
          <a:p>
            <a:pPr marL="285750" indent="-285750">
              <a:buChar char="•"/>
            </a:pPr>
            <a:endParaRPr lang="en-US" b="1" dirty="0">
              <a:solidFill>
                <a:srgbClr val="499451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rgbClr val="C00000"/>
                </a:solidFill>
                <a:cs typeface="Arial"/>
              </a:rPr>
              <a:t>44.7%</a:t>
            </a:r>
            <a:r>
              <a:rPr lang="en-US" b="1" dirty="0">
                <a:solidFill>
                  <a:srgbClr val="499451"/>
                </a:solidFill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cs typeface="Arial"/>
              </a:rPr>
              <a:t>growth in impressions</a:t>
            </a:r>
          </a:p>
          <a:p>
            <a:pPr marL="285750" indent="-285750">
              <a:buChar char="•"/>
            </a:pPr>
            <a:endParaRPr lang="en-US" b="1" dirty="0">
              <a:solidFill>
                <a:srgbClr val="499451"/>
              </a:solidFill>
              <a:cs typeface="Arial"/>
            </a:endParaRPr>
          </a:p>
          <a:p>
            <a:pPr marL="285750" indent="-285750">
              <a:buChar char="•"/>
            </a:pPr>
            <a:r>
              <a:rPr lang="en-US" b="1" dirty="0">
                <a:solidFill>
                  <a:srgbClr val="C00000"/>
                </a:solidFill>
                <a:cs typeface="Arial"/>
              </a:rPr>
              <a:t>3.44%</a:t>
            </a:r>
            <a:r>
              <a:rPr lang="en-US" dirty="0">
                <a:solidFill>
                  <a:srgbClr val="C00000"/>
                </a:solidFill>
                <a:cs typeface="Arial"/>
              </a:rPr>
              <a:t> </a:t>
            </a:r>
            <a:r>
              <a:rPr lang="en-US" dirty="0">
                <a:solidFill>
                  <a:schemeClr val="accent2"/>
                </a:solidFill>
                <a:cs typeface="Arial"/>
              </a:rPr>
              <a:t>click-through-rate</a:t>
            </a:r>
          </a:p>
          <a:p>
            <a:endParaRPr lang="en-US" sz="900" i="1" dirty="0">
              <a:solidFill>
                <a:schemeClr val="accent2"/>
              </a:solidFill>
              <a:cs typeface="Arial"/>
            </a:endParaRPr>
          </a:p>
          <a:p>
            <a:endParaRPr lang="en-US" sz="900" i="1" dirty="0">
              <a:solidFill>
                <a:schemeClr val="accent2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  <a:p>
            <a:endParaRPr lang="en-US" b="1" dirty="0">
              <a:solidFill>
                <a:srgbClr val="499451"/>
              </a:solidFill>
              <a:cs typeface="Arial"/>
            </a:endParaRPr>
          </a:p>
        </p:txBody>
      </p:sp>
      <p:sp>
        <p:nvSpPr>
          <p:cNvPr id="5" name="Arrow: Right 4">
            <a:extLst>
              <a:ext uri="{FF2B5EF4-FFF2-40B4-BE49-F238E27FC236}">
                <a16:creationId xmlns:a16="http://schemas.microsoft.com/office/drawing/2014/main" id="{D7ACD346-322A-4BBC-B003-518D58FAEB07}"/>
              </a:ext>
            </a:extLst>
          </p:cNvPr>
          <p:cNvSpPr/>
          <p:nvPr/>
        </p:nvSpPr>
        <p:spPr>
          <a:xfrm>
            <a:off x="4740560" y="2059857"/>
            <a:ext cx="1153782" cy="1250829"/>
          </a:xfrm>
          <a:prstGeom prst="rightArrow">
            <a:avLst/>
          </a:prstGeom>
          <a:solidFill>
            <a:srgbClr val="A2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B59C193-BF38-400A-8E71-E569E8BAFCA7}"/>
              </a:ext>
            </a:extLst>
          </p:cNvPr>
          <p:cNvCxnSpPr>
            <a:cxnSpLocks/>
          </p:cNvCxnSpPr>
          <p:nvPr/>
        </p:nvCxnSpPr>
        <p:spPr>
          <a:xfrm>
            <a:off x="167100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E88BFE43-95F5-43F5-BCAD-416067F55932}"/>
              </a:ext>
            </a:extLst>
          </p:cNvPr>
          <p:cNvSpPr txBox="1"/>
          <p:nvPr/>
        </p:nvSpPr>
        <p:spPr>
          <a:xfrm>
            <a:off x="396815" y="906390"/>
            <a:ext cx="4414567" cy="11695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Campaign Level Changes</a:t>
            </a:r>
            <a:endParaRPr lang="en-US">
              <a:solidFill>
                <a:srgbClr val="C00000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IN">
                <a:solidFill>
                  <a:schemeClr val="tx1"/>
                </a:solidFill>
              </a:rPr>
              <a:t>Changed bid strategy from Maximum Clicks to Target Impression Share</a:t>
            </a:r>
            <a:endParaRPr lang="en-US">
              <a:solidFill>
                <a:schemeClr val="tx1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IN">
                <a:solidFill>
                  <a:schemeClr val="tx1"/>
                </a:solidFill>
              </a:rPr>
              <a:t>Added Dynamic Search Ads – search ads that showed content based on our NGO’s Raiser page</a:t>
            </a:r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60BA5CD-0E7C-4527-BA5A-CE67F0500EF0}"/>
              </a:ext>
            </a:extLst>
          </p:cNvPr>
          <p:cNvSpPr txBox="1"/>
          <p:nvPr/>
        </p:nvSpPr>
        <p:spPr>
          <a:xfrm>
            <a:off x="439947" y="2353933"/>
            <a:ext cx="4533179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rgbClr val="C00000"/>
                </a:solidFill>
              </a:rPr>
              <a:t>Keyword Level Changes</a:t>
            </a:r>
            <a:r>
              <a:rPr lang="en-US">
                <a:solidFill>
                  <a:srgbClr val="C00000"/>
                </a:solidFill>
              </a:rPr>
              <a:t>​</a:t>
            </a:r>
          </a:p>
          <a:p>
            <a:pPr>
              <a:buChar char="•"/>
            </a:pPr>
            <a:r>
              <a:rPr lang="en-IN">
                <a:solidFill>
                  <a:srgbClr val="212121"/>
                </a:solidFill>
              </a:rPr>
              <a:t>   Added best performing search terms to campaign</a:t>
            </a:r>
          </a:p>
          <a:p>
            <a:pPr>
              <a:buChar char="•"/>
            </a:pPr>
            <a:r>
              <a:rPr lang="en-IN">
                <a:solidFill>
                  <a:srgbClr val="212121"/>
                </a:solidFill>
              </a:rPr>
              <a:t>   Audited Search Query Report to add/remove </a:t>
            </a:r>
            <a:endParaRPr lang="en-US"/>
          </a:p>
          <a:p>
            <a:r>
              <a:rPr lang="en-IN">
                <a:solidFill>
                  <a:srgbClr val="212121"/>
                </a:solidFill>
              </a:rPr>
              <a:t>    keywords for optimization</a:t>
            </a:r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C31423C-60A6-404C-BF79-AC3B2757C2A1}"/>
              </a:ext>
            </a:extLst>
          </p:cNvPr>
          <p:cNvSpPr txBox="1"/>
          <p:nvPr/>
        </p:nvSpPr>
        <p:spPr>
          <a:xfrm>
            <a:off x="439947" y="3550848"/>
            <a:ext cx="4533178" cy="95410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IN" b="1" dirty="0">
                <a:solidFill>
                  <a:srgbClr val="C00000"/>
                </a:solidFill>
              </a:rPr>
              <a:t>Ad Level Changes</a:t>
            </a:r>
            <a:r>
              <a:rPr lang="en-US" dirty="0">
                <a:solidFill>
                  <a:srgbClr val="C00000"/>
                </a:solidFill>
              </a:rPr>
              <a:t>​​</a:t>
            </a:r>
          </a:p>
          <a:p>
            <a:pPr>
              <a:buChar char="•"/>
            </a:pPr>
            <a:r>
              <a:rPr lang="en-IN" dirty="0">
                <a:solidFill>
                  <a:srgbClr val="212121"/>
                </a:solidFill>
              </a:rPr>
              <a:t>   Added responsive ads</a:t>
            </a:r>
            <a:endParaRPr lang="en-US" dirty="0">
              <a:solidFill>
                <a:srgbClr val="212121"/>
              </a:solidFill>
            </a:endParaRPr>
          </a:p>
          <a:p>
            <a:pPr>
              <a:buChar char="•"/>
            </a:pPr>
            <a:r>
              <a:rPr lang="en-IN" dirty="0">
                <a:solidFill>
                  <a:srgbClr val="212121"/>
                </a:solidFill>
              </a:rPr>
              <a:t>   Ad rotation to optimize for best performing ad</a:t>
            </a:r>
          </a:p>
          <a:p>
            <a:pPr>
              <a:buChar char="•"/>
            </a:pPr>
            <a:r>
              <a:rPr lang="en-IN" dirty="0">
                <a:solidFill>
                  <a:srgbClr val="212121"/>
                </a:solidFill>
              </a:rPr>
              <a:t>   Landing page</a:t>
            </a:r>
            <a:r>
              <a:rPr lang="en-US" dirty="0">
                <a:solidFill>
                  <a:srgbClr val="212121"/>
                </a:solidFill>
              </a:rPr>
              <a:t>​ optimization to improve Quality Score​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0A72F8A-54DD-465C-843B-7F91BAFA16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7D292115-556B-4A0E-938C-26F79BFEC7B8}"/>
              </a:ext>
            </a:extLst>
          </p:cNvPr>
          <p:cNvSpPr txBox="1">
            <a:spLocks/>
          </p:cNvSpPr>
          <p:nvPr/>
        </p:nvSpPr>
        <p:spPr>
          <a:xfrm>
            <a:off x="167100" y="76546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Campaign Evolution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1312475-79BF-13AC-0147-15D1110114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09750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/>
      <p:bldP spid="8" grpId="0"/>
      <p:bldP spid="9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BF7CE9D-072D-4E37-9743-59A20A93B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186260"/>
              </p:ext>
            </p:extLst>
          </p:nvPr>
        </p:nvGraphicFramePr>
        <p:xfrm>
          <a:off x="2124254" y="970471"/>
          <a:ext cx="5364365" cy="3522301"/>
        </p:xfrm>
        <a:graphic>
          <a:graphicData uri="http://schemas.openxmlformats.org/drawingml/2006/table">
            <a:tbl>
              <a:tblPr>
                <a:tableStyleId>{459FDDED-E816-49B8-A515-81FDA929BD25}</a:tableStyleId>
              </a:tblPr>
              <a:tblGrid>
                <a:gridCol w="2810110">
                  <a:extLst>
                    <a:ext uri="{9D8B030D-6E8A-4147-A177-3AD203B41FA5}">
                      <a16:colId xmlns:a16="http://schemas.microsoft.com/office/drawing/2014/main" val="3102294276"/>
                    </a:ext>
                  </a:extLst>
                </a:gridCol>
                <a:gridCol w="2554255">
                  <a:extLst>
                    <a:ext uri="{9D8B030D-6E8A-4147-A177-3AD203B41FA5}">
                      <a16:colId xmlns:a16="http://schemas.microsoft.com/office/drawing/2014/main" val="576010706"/>
                    </a:ext>
                  </a:extLst>
                </a:gridCol>
              </a:tblGrid>
              <a:tr h="50802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200" b="1">
                          <a:solidFill>
                            <a:schemeClr val="bg1"/>
                          </a:solidFill>
                          <a:effectLst/>
                        </a:rPr>
                        <a:t>Metric</a:t>
                      </a:r>
                      <a:endParaRPr lang="en-IN" sz="1200" b="1">
                        <a:solidFill>
                          <a:schemeClr val="bg1"/>
                        </a:solidFill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</a:rPr>
                        <a:t>Current Campaign</a:t>
                      </a:r>
                    </a:p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  <a:ea typeface="Arial" panose="020B0604020202020204" pitchFamily="34" charset="0"/>
                        </a:rPr>
                        <a:t>(Apr 1st– Apr 29th)</a:t>
                      </a:r>
                      <a:endParaRPr lang="en-IN" sz="1050" b="1">
                        <a:solidFill>
                          <a:schemeClr val="bg1"/>
                        </a:solidFill>
                        <a:effectLst/>
                        <a:latin typeface="Arial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50198787"/>
                  </a:ext>
                </a:extLst>
              </a:tr>
              <a:tr h="316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Impressions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291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188689528"/>
                  </a:ext>
                </a:extLst>
              </a:tr>
              <a:tr h="316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Clicks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10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101037002"/>
                  </a:ext>
                </a:extLst>
              </a:tr>
              <a:tr h="316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CTR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  3.44%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318017388"/>
                  </a:ext>
                </a:extLst>
              </a:tr>
              <a:tr h="3499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Cost per Click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$0.31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319307351"/>
                  </a:ext>
                </a:extLst>
              </a:tr>
              <a:tr h="316104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Search Impression Share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&lt; 10%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2181986010"/>
                  </a:ext>
                </a:extLst>
              </a:tr>
              <a:tr h="3499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Search Lost IS (Rank)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GB" sz="1100">
                          <a:effectLst/>
                        </a:rPr>
                        <a:t>&gt; 90%</a:t>
                      </a:r>
                      <a:endParaRPr lang="en-IN" sz="1100">
                        <a:effectLst/>
                        <a:latin typeface="Arial" panose="020B0604020202020204" pitchFamily="34" charset="0"/>
                        <a:ea typeface="Arial" panose="020B0604020202020204" pitchFamily="34" charset="0"/>
                      </a:endParaRP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139008710"/>
                  </a:ext>
                </a:extLst>
              </a:tr>
              <a:tr h="3499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Bid Strategy Type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Target Impression Share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1514061732"/>
                  </a:ext>
                </a:extLst>
              </a:tr>
              <a:tr h="3499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Target Impression Share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70%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643654132"/>
                  </a:ext>
                </a:extLst>
              </a:tr>
              <a:tr h="34997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Max CPC Bid Limit for Target IS</a:t>
                      </a:r>
                    </a:p>
                  </a:txBody>
                  <a:tcPr marL="63500" marR="63500" marT="63500" marB="6350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en-IN" sz="1100">
                          <a:effectLst/>
                          <a:latin typeface="Arial"/>
                          <a:ea typeface="Arial" panose="020B0604020202020204" pitchFamily="34" charset="0"/>
                        </a:rPr>
                        <a:t>$100</a:t>
                      </a:r>
                    </a:p>
                  </a:txBody>
                  <a:tcPr marL="63500" marR="63500" marT="63500" marB="63500" anchor="ctr"/>
                </a:tc>
                <a:extLst>
                  <a:ext uri="{0D108BD9-81ED-4DB2-BD59-A6C34878D82A}">
                    <a16:rowId xmlns:a16="http://schemas.microsoft.com/office/drawing/2014/main" val="3595382839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3D2DCDA-CFBD-4EC0-AA54-E66F7269F1E4}"/>
              </a:ext>
            </a:extLst>
          </p:cNvPr>
          <p:cNvSpPr txBox="1"/>
          <p:nvPr/>
        </p:nvSpPr>
        <p:spPr>
          <a:xfrm>
            <a:off x="175763" y="390667"/>
            <a:ext cx="8792473" cy="553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endParaRPr lang="en-GB" sz="1500" b="1"/>
          </a:p>
          <a:p>
            <a:pPr algn="ctr"/>
            <a:r>
              <a:rPr lang="en-GB" sz="1500" b="1"/>
              <a:t>1st April 2022 – 29th April 2022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8E4771D-1C55-4C9E-9131-B2723A84D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0" y="92934"/>
            <a:ext cx="6614100" cy="755700"/>
          </a:xfrm>
        </p:spPr>
        <p:txBody>
          <a:bodyPr/>
          <a:lstStyle/>
          <a:p>
            <a:r>
              <a:rPr lang="en-US" b="1">
                <a:solidFill>
                  <a:schemeClr val="tx1"/>
                </a:solidFill>
              </a:rPr>
              <a:t>Campaign Performance Metrics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6BDE934-6DD7-4361-B2DE-79218DFE750B}"/>
              </a:ext>
            </a:extLst>
          </p:cNvPr>
          <p:cNvCxnSpPr>
            <a:cxnSpLocks/>
          </p:cNvCxnSpPr>
          <p:nvPr/>
        </p:nvCxnSpPr>
        <p:spPr>
          <a:xfrm>
            <a:off x="167101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0FDD8690-EC09-B1FD-8C55-B321AE55FB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F1B3662-6BDE-2C85-6CB7-A0CFB3CD6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62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73195F0-36CD-43D5-AE3D-0A6F1C3408DA}"/>
              </a:ext>
            </a:extLst>
          </p:cNvPr>
          <p:cNvSpPr txBox="1"/>
          <p:nvPr/>
        </p:nvSpPr>
        <p:spPr>
          <a:xfrm>
            <a:off x="318016" y="709830"/>
            <a:ext cx="302263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212121"/>
                </a:solidFill>
                <a:cs typeface="Segoe UI"/>
              </a:rPr>
              <a:t>Top Performing Keywords</a:t>
            </a:r>
            <a:endParaRPr lang="en-US" sz="180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52E8124-72A2-45DE-867F-EA4ADEE6356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3970596"/>
              </p:ext>
            </p:extLst>
          </p:nvPr>
        </p:nvGraphicFramePr>
        <p:xfrm>
          <a:off x="318016" y="1042594"/>
          <a:ext cx="5103117" cy="1785200"/>
        </p:xfrm>
        <a:graphic>
          <a:graphicData uri="http://schemas.openxmlformats.org/drawingml/2006/table">
            <a:tbl>
              <a:tblPr firstRow="1" bandRow="1">
                <a:tableStyleId>{459FDDED-E816-49B8-A515-81FDA929BD25}</a:tableStyleId>
              </a:tblPr>
              <a:tblGrid>
                <a:gridCol w="1539551">
                  <a:extLst>
                    <a:ext uri="{9D8B030D-6E8A-4147-A177-3AD203B41FA5}">
                      <a16:colId xmlns:a16="http://schemas.microsoft.com/office/drawing/2014/main" val="510211928"/>
                    </a:ext>
                  </a:extLst>
                </a:gridCol>
                <a:gridCol w="1446240">
                  <a:extLst>
                    <a:ext uri="{9D8B030D-6E8A-4147-A177-3AD203B41FA5}">
                      <a16:colId xmlns:a16="http://schemas.microsoft.com/office/drawing/2014/main" val="1383143428"/>
                    </a:ext>
                  </a:extLst>
                </a:gridCol>
                <a:gridCol w="1061357">
                  <a:extLst>
                    <a:ext uri="{9D8B030D-6E8A-4147-A177-3AD203B41FA5}">
                      <a16:colId xmlns:a16="http://schemas.microsoft.com/office/drawing/2014/main" val="1728961859"/>
                    </a:ext>
                  </a:extLst>
                </a:gridCol>
                <a:gridCol w="1055969">
                  <a:extLst>
                    <a:ext uri="{9D8B030D-6E8A-4147-A177-3AD203B41FA5}">
                      <a16:colId xmlns:a16="http://schemas.microsoft.com/office/drawing/2014/main" val="2226460927"/>
                    </a:ext>
                  </a:extLst>
                </a:gridCol>
              </a:tblGrid>
              <a:tr h="24836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Keyword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Ad group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Match type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Impressions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8078037"/>
                  </a:ext>
                </a:extLst>
              </a:tr>
              <a:tr h="276913"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>
                          <a:effectLst/>
                          <a:latin typeface="Arial"/>
                        </a:rPr>
                        <a:t>mutual funds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Mutual Funds_Generic</a:t>
                      </a:r>
                      <a:endParaRPr lang="en-GB" sz="900" err="1"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Broad match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58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89205779"/>
                  </a:ext>
                </a:extLst>
              </a:tr>
              <a:tr h="276913"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>
                          <a:effectLst/>
                          <a:latin typeface="Arial"/>
                        </a:rPr>
                        <a:t>mutual fund investment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Mutual Funds_Generic</a:t>
                      </a:r>
                      <a:endParaRPr lang="en-GB" sz="900" err="1"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900">
                          <a:effectLst/>
                          <a:latin typeface="Arial"/>
                        </a:rPr>
                        <a:t>Broad match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29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46895550"/>
                  </a:ext>
                </a:extLst>
              </a:tr>
              <a:tr h="276913"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>
                          <a:effectLst/>
                          <a:latin typeface="Arial"/>
                        </a:rPr>
                        <a:t>index investing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Index Fund_Generic</a:t>
                      </a:r>
                      <a:endParaRPr lang="en-GB" sz="900" err="1"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900">
                          <a:effectLst/>
                          <a:latin typeface="Arial"/>
                        </a:rPr>
                        <a:t>Broad match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27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36029380"/>
                  </a:ext>
                </a:extLst>
              </a:tr>
              <a:tr h="410724"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>
                          <a:effectLst/>
                          <a:latin typeface="Arial"/>
                        </a:rPr>
                        <a:t>esg investing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ESG Investing_Non-brand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900">
                          <a:effectLst/>
                          <a:latin typeface="Arial"/>
                        </a:rPr>
                        <a:t>Broad match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20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72044557"/>
                  </a:ext>
                </a:extLst>
              </a:tr>
              <a:tr h="295368"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 b="1">
                          <a:effectLst/>
                          <a:latin typeface="Arial"/>
                        </a:rPr>
                        <a:t>green bond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Green Bonds_Non-brand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GB" sz="900">
                          <a:effectLst/>
                          <a:latin typeface="Arial"/>
                        </a:rPr>
                        <a:t>Broad match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900">
                          <a:effectLst/>
                          <a:latin typeface="Arial"/>
                        </a:rPr>
                        <a:t>17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14924929"/>
                  </a:ext>
                </a:extLst>
              </a:tr>
            </a:tbl>
          </a:graphicData>
        </a:graphic>
      </p:graphicFrame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B41B6DD6-7A38-4506-B445-3335EA3CC798}"/>
              </a:ext>
            </a:extLst>
          </p:cNvPr>
          <p:cNvCxnSpPr>
            <a:cxnSpLocks/>
          </p:cNvCxnSpPr>
          <p:nvPr/>
        </p:nvCxnSpPr>
        <p:spPr>
          <a:xfrm>
            <a:off x="167101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559373B8-1D05-4AC9-8700-89964EDD993B}"/>
              </a:ext>
            </a:extLst>
          </p:cNvPr>
          <p:cNvSpPr txBox="1"/>
          <p:nvPr/>
        </p:nvSpPr>
        <p:spPr>
          <a:xfrm>
            <a:off x="5803355" y="749967"/>
            <a:ext cx="2915568" cy="27699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b="1">
                <a:solidFill>
                  <a:srgbClr val="212121"/>
                </a:solidFill>
                <a:cs typeface="Segoe UI"/>
              </a:rPr>
              <a:t>Device Level Performance</a:t>
            </a:r>
            <a:endParaRPr lang="en-US" sz="120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78AAF1-4899-4F8D-86C6-EBB931C776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9680355"/>
              </p:ext>
            </p:extLst>
          </p:nvPr>
        </p:nvGraphicFramePr>
        <p:xfrm>
          <a:off x="5731669" y="1078930"/>
          <a:ext cx="3091610" cy="1204722"/>
        </p:xfrm>
        <a:graphic>
          <a:graphicData uri="http://schemas.openxmlformats.org/drawingml/2006/table">
            <a:tbl>
              <a:tblPr firstRow="1" bandRow="1">
                <a:tableStyleId>{459FDDED-E816-49B8-A515-81FDA929BD25}</a:tableStyleId>
              </a:tblPr>
              <a:tblGrid>
                <a:gridCol w="1173428">
                  <a:extLst>
                    <a:ext uri="{9D8B030D-6E8A-4147-A177-3AD203B41FA5}">
                      <a16:colId xmlns:a16="http://schemas.microsoft.com/office/drawing/2014/main" val="3092128348"/>
                    </a:ext>
                  </a:extLst>
                </a:gridCol>
                <a:gridCol w="996784">
                  <a:extLst>
                    <a:ext uri="{9D8B030D-6E8A-4147-A177-3AD203B41FA5}">
                      <a16:colId xmlns:a16="http://schemas.microsoft.com/office/drawing/2014/main" val="2242194660"/>
                    </a:ext>
                  </a:extLst>
                </a:gridCol>
                <a:gridCol w="921398">
                  <a:extLst>
                    <a:ext uri="{9D8B030D-6E8A-4147-A177-3AD203B41FA5}">
                      <a16:colId xmlns:a16="http://schemas.microsoft.com/office/drawing/2014/main" val="1108565476"/>
                    </a:ext>
                  </a:extLst>
                </a:gridCol>
              </a:tblGrid>
              <a:tr h="3303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Device Type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Impressions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</a:rPr>
                        <a:t>Clicks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530423"/>
                  </a:ext>
                </a:extLst>
              </a:tr>
              <a:tr h="27203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Computers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</a:rPr>
                        <a:t>201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>
                          <a:effectLst/>
                        </a:rPr>
                        <a:t>10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887542"/>
                  </a:ext>
                </a:extLst>
              </a:tr>
              <a:tr h="272034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Mobile Phones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76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469368693"/>
                  </a:ext>
                </a:extLst>
              </a:tr>
              <a:tr h="330327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Tablets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  <a:latin typeface="Arial" panose="020B0604020202020204" pitchFamily="34" charset="0"/>
                        </a:rPr>
                        <a:t>6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>
                          <a:effectLst/>
                        </a:rPr>
                        <a:t>0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111172884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F61AC1A1-E36F-49E6-B32E-AA121DF2914A}"/>
              </a:ext>
            </a:extLst>
          </p:cNvPr>
          <p:cNvSpPr txBox="1"/>
          <p:nvPr/>
        </p:nvSpPr>
        <p:spPr>
          <a:xfrm>
            <a:off x="389821" y="3047732"/>
            <a:ext cx="426343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b="1">
                <a:solidFill>
                  <a:schemeClr val="tx1"/>
                </a:solidFill>
                <a:latin typeface="Roboto"/>
                <a:ea typeface="Roboto"/>
                <a:sym typeface="Roboto"/>
              </a:rPr>
              <a:t>Most Shown Ad:  Ad Group: Mutual </a:t>
            </a:r>
            <a:r>
              <a:rPr lang="en-US" b="1" err="1">
                <a:solidFill>
                  <a:schemeClr val="tx1"/>
                </a:solidFill>
                <a:latin typeface="Roboto"/>
                <a:ea typeface="Roboto"/>
                <a:sym typeface="Roboto"/>
              </a:rPr>
              <a:t>Funds_Generic</a:t>
            </a:r>
            <a:endParaRPr lang="en-US" b="1">
              <a:solidFill>
                <a:schemeClr val="tx1"/>
              </a:solidFill>
              <a:latin typeface="Roboto"/>
              <a:ea typeface="Roboto"/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C3AD35BC-C61D-4445-ADCD-D407B219A8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80490930"/>
              </p:ext>
            </p:extLst>
          </p:nvPr>
        </p:nvGraphicFramePr>
        <p:xfrm>
          <a:off x="5027099" y="3343183"/>
          <a:ext cx="3527757" cy="899417"/>
        </p:xfrm>
        <a:graphic>
          <a:graphicData uri="http://schemas.openxmlformats.org/drawingml/2006/table">
            <a:tbl>
              <a:tblPr firstRow="1" bandRow="1">
                <a:tableStyleId>{459FDDED-E816-49B8-A515-81FDA929BD25}</a:tableStyleId>
              </a:tblPr>
              <a:tblGrid>
                <a:gridCol w="1201316">
                  <a:extLst>
                    <a:ext uri="{9D8B030D-6E8A-4147-A177-3AD203B41FA5}">
                      <a16:colId xmlns:a16="http://schemas.microsoft.com/office/drawing/2014/main" val="3092128348"/>
                    </a:ext>
                  </a:extLst>
                </a:gridCol>
                <a:gridCol w="1306285">
                  <a:extLst>
                    <a:ext uri="{9D8B030D-6E8A-4147-A177-3AD203B41FA5}">
                      <a16:colId xmlns:a16="http://schemas.microsoft.com/office/drawing/2014/main" val="2242194660"/>
                    </a:ext>
                  </a:extLst>
                </a:gridCol>
                <a:gridCol w="1020156">
                  <a:extLst>
                    <a:ext uri="{9D8B030D-6E8A-4147-A177-3AD203B41FA5}">
                      <a16:colId xmlns:a16="http://schemas.microsoft.com/office/drawing/2014/main" val="1108565476"/>
                    </a:ext>
                  </a:extLst>
                </a:gridCol>
              </a:tblGrid>
              <a:tr h="292928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</a:rPr>
                        <a:t>Impressions</a:t>
                      </a:r>
                      <a:endParaRPr lang="en-GB" sz="1100" b="1">
                        <a:solidFill>
                          <a:schemeClr val="bg1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  <a:latin typeface="Arial"/>
                        </a:rPr>
                        <a:t>Ad Type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 b="1">
                          <a:solidFill>
                            <a:schemeClr val="bg1"/>
                          </a:solidFill>
                          <a:effectLst/>
                        </a:rPr>
                        <a:t>Ad Strength</a:t>
                      </a:r>
                    </a:p>
                  </a:txBody>
                  <a:tcPr marL="9525" marR="9525" marT="9525" marB="0" anchor="ctr">
                    <a:solidFill>
                      <a:srgbClr val="A2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7530423"/>
                  </a:ext>
                </a:extLst>
              </a:tr>
              <a:tr h="606489"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  <a:latin typeface="Arial"/>
                        </a:rPr>
                        <a:t>90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GB" sz="1100">
                          <a:effectLst/>
                        </a:rPr>
                        <a:t>Responsive Search Ad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GB" sz="1100">
                          <a:effectLst/>
                        </a:rPr>
                        <a:t>Good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3887542"/>
                  </a:ext>
                </a:extLst>
              </a:tr>
            </a:tbl>
          </a:graphicData>
        </a:graphic>
      </p:graphicFrame>
      <p:pic>
        <p:nvPicPr>
          <p:cNvPr id="10" name="Picture 9">
            <a:extLst>
              <a:ext uri="{FF2B5EF4-FFF2-40B4-BE49-F238E27FC236}">
                <a16:creationId xmlns:a16="http://schemas.microsoft.com/office/drawing/2014/main" id="{7A9B2227-E765-483E-8451-6655DD560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617" y="75110"/>
            <a:ext cx="1689379" cy="478460"/>
          </a:xfrm>
          <a:prstGeom prst="rect">
            <a:avLst/>
          </a:prstGeom>
        </p:spPr>
      </p:pic>
      <p:sp>
        <p:nvSpPr>
          <p:cNvPr id="12" name="Title 1">
            <a:extLst>
              <a:ext uri="{FF2B5EF4-FFF2-40B4-BE49-F238E27FC236}">
                <a16:creationId xmlns:a16="http://schemas.microsoft.com/office/drawing/2014/main" id="{9AE53DF7-5886-4B93-B8A9-2861692784FE}"/>
              </a:ext>
            </a:extLst>
          </p:cNvPr>
          <p:cNvSpPr txBox="1">
            <a:spLocks/>
          </p:cNvSpPr>
          <p:nvPr/>
        </p:nvSpPr>
        <p:spPr>
          <a:xfrm>
            <a:off x="167101" y="82823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chemeClr val="tx1"/>
                </a:solidFill>
              </a:rPr>
              <a:t>Campaign Highlights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CBE1357B-A7AA-47D9-8C15-6D7DBBE87447}"/>
              </a:ext>
            </a:extLst>
          </p:cNvPr>
          <p:cNvCxnSpPr>
            <a:cxnSpLocks/>
          </p:cNvCxnSpPr>
          <p:nvPr/>
        </p:nvCxnSpPr>
        <p:spPr>
          <a:xfrm>
            <a:off x="167101" y="2938397"/>
            <a:ext cx="8767895" cy="0"/>
          </a:xfrm>
          <a:prstGeom prst="line">
            <a:avLst/>
          </a:prstGeom>
          <a:ln w="3492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A456510F-D7F4-1343-70F8-9FD11ADF09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121DB7C-D14F-437C-9211-40CE792FCC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051" y="3295617"/>
            <a:ext cx="3706977" cy="1374237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6A036BA5-B540-49D6-8DF5-267A24B9D319}"/>
              </a:ext>
            </a:extLst>
          </p:cNvPr>
          <p:cNvSpPr/>
          <p:nvPr/>
        </p:nvSpPr>
        <p:spPr>
          <a:xfrm>
            <a:off x="734786" y="4151160"/>
            <a:ext cx="3640242" cy="159583"/>
          </a:xfrm>
          <a:prstGeom prst="rect">
            <a:avLst/>
          </a:prstGeom>
          <a:noFill/>
          <a:ln w="12700"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1A58FA3-0BB2-427F-BE96-CCA2447CD882}"/>
              </a:ext>
            </a:extLst>
          </p:cNvPr>
          <p:cNvSpPr txBox="1"/>
          <p:nvPr/>
        </p:nvSpPr>
        <p:spPr>
          <a:xfrm>
            <a:off x="3852766" y="4333275"/>
            <a:ext cx="1396564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000" b="1" dirty="0">
                <a:solidFill>
                  <a:schemeClr val="tx1"/>
                </a:solidFill>
              </a:rPr>
              <a:t>Structured Snippet</a:t>
            </a:r>
          </a:p>
          <a:p>
            <a:pPr algn="ctr"/>
            <a:r>
              <a:rPr lang="en-GB" sz="1000" b="1" dirty="0">
                <a:solidFill>
                  <a:schemeClr val="tx1"/>
                </a:solidFill>
              </a:rPr>
              <a:t>extension</a:t>
            </a:r>
          </a:p>
        </p:txBody>
      </p:sp>
    </p:spTree>
    <p:extLst>
      <p:ext uri="{BB962C8B-B14F-4D97-AF65-F5344CB8AC3E}">
        <p14:creationId xmlns:p14="http://schemas.microsoft.com/office/powerpoint/2010/main" val="1180520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8" grpId="0"/>
      <p:bldP spid="17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">
            <a:extLst>
              <a:ext uri="{FF2B5EF4-FFF2-40B4-BE49-F238E27FC236}">
                <a16:creationId xmlns:a16="http://schemas.microsoft.com/office/drawing/2014/main" id="{5358AE45-47BA-4E47-8103-91AD1DD2400E}"/>
              </a:ext>
            </a:extLst>
          </p:cNvPr>
          <p:cNvSpPr txBox="1"/>
          <p:nvPr/>
        </p:nvSpPr>
        <p:spPr>
          <a:xfrm>
            <a:off x="979431" y="657441"/>
            <a:ext cx="138658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/>
            <a:r>
              <a:rPr lang="en-US" sz="1200">
                <a:solidFill>
                  <a:srgbClr val="212121"/>
                </a:solidFill>
                <a:cs typeface="Segoe UI"/>
              </a:rPr>
              <a:t>Demographics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07F3CED-D739-4AAA-A47B-AD7C7C524BD0}"/>
              </a:ext>
            </a:extLst>
          </p:cNvPr>
          <p:cNvSpPr/>
          <p:nvPr/>
        </p:nvSpPr>
        <p:spPr>
          <a:xfrm>
            <a:off x="0" y="4002868"/>
            <a:ext cx="5229492" cy="646331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556895" lvl="1" indent="-213995" algn="just">
              <a:buFont typeface="Arial" panose="020B0604020202020204" pitchFamily="34" charset="0"/>
              <a:buChar char="•"/>
            </a:pPr>
            <a:r>
              <a:rPr lang="en-US" sz="1200">
                <a:solidFill>
                  <a:srgbClr val="212121"/>
                </a:solidFill>
                <a:cs typeface="Segoe UI"/>
              </a:rPr>
              <a:t>Age group</a:t>
            </a:r>
            <a:r>
              <a:rPr lang="en-US" sz="1200" b="1">
                <a:solidFill>
                  <a:srgbClr val="212121"/>
                </a:solidFill>
                <a:cs typeface="Segoe UI"/>
              </a:rPr>
              <a:t> </a:t>
            </a:r>
            <a:r>
              <a:rPr lang="en-US" sz="1200">
                <a:solidFill>
                  <a:srgbClr val="212121"/>
                </a:solidFill>
                <a:cs typeface="Segoe UI"/>
              </a:rPr>
              <a:t>of</a:t>
            </a:r>
            <a:r>
              <a:rPr lang="en-US" sz="1200" b="1">
                <a:solidFill>
                  <a:srgbClr val="212121"/>
                </a:solidFill>
                <a:cs typeface="Segoe UI"/>
              </a:rPr>
              <a:t> 18-24 </a:t>
            </a:r>
            <a:r>
              <a:rPr lang="en-US" sz="1200">
                <a:solidFill>
                  <a:srgbClr val="212121"/>
                </a:solidFill>
                <a:cs typeface="Segoe UI"/>
              </a:rPr>
              <a:t>were shown the ad maximum times and they also clicked the ad most times </a:t>
            </a:r>
            <a:endParaRPr lang="en-US" sz="1200"/>
          </a:p>
          <a:p>
            <a:pPr marL="556895" lvl="1" indent="-213995" algn="just">
              <a:buFont typeface="Arial" panose="020B0604020202020204" pitchFamily="34" charset="0"/>
              <a:buChar char="•"/>
            </a:pPr>
            <a:r>
              <a:rPr lang="en-US" sz="1200" b="1">
                <a:solidFill>
                  <a:srgbClr val="212121"/>
                </a:solidFill>
                <a:cs typeface="Segoe UI"/>
              </a:rPr>
              <a:t>Males </a:t>
            </a:r>
            <a:r>
              <a:rPr lang="en-US" sz="1200">
                <a:solidFill>
                  <a:srgbClr val="212121"/>
                </a:solidFill>
                <a:cs typeface="Segoe UI"/>
              </a:rPr>
              <a:t>have more impressions than </a:t>
            </a:r>
            <a:r>
              <a:rPr lang="en-US" sz="1200" b="1">
                <a:solidFill>
                  <a:srgbClr val="212121"/>
                </a:solidFill>
                <a:cs typeface="Segoe UI"/>
              </a:rPr>
              <a:t>females</a:t>
            </a:r>
            <a:endParaRPr lang="en-US" sz="1200">
              <a:solidFill>
                <a:srgbClr val="212121"/>
              </a:solidFill>
              <a:cs typeface="Segoe UI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AC7572D-90A7-4F5A-912A-18AB8D47942E}"/>
              </a:ext>
            </a:extLst>
          </p:cNvPr>
          <p:cNvSpPr/>
          <p:nvPr/>
        </p:nvSpPr>
        <p:spPr>
          <a:xfrm>
            <a:off x="5480015" y="3885517"/>
            <a:ext cx="3582077" cy="461665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r>
              <a:rPr lang="en-US" sz="1200">
                <a:solidFill>
                  <a:srgbClr val="212121"/>
                </a:solidFill>
                <a:cs typeface="Segoe UI"/>
              </a:rPr>
              <a:t>Most clicks &amp; impressions received at around </a:t>
            </a:r>
            <a:r>
              <a:rPr lang="en-US" sz="1200" b="1">
                <a:solidFill>
                  <a:srgbClr val="212121"/>
                </a:solidFill>
                <a:cs typeface="Segoe UI"/>
              </a:rPr>
              <a:t>10- 11 PM </a:t>
            </a:r>
            <a:r>
              <a:rPr lang="en-US" sz="1200">
                <a:solidFill>
                  <a:srgbClr val="212121"/>
                </a:solidFill>
                <a:cs typeface="Segoe UI"/>
              </a:rPr>
              <a:t>in the night </a:t>
            </a:r>
            <a:endParaRPr lang="en-US" sz="1200"/>
          </a:p>
        </p:txBody>
      </p:sp>
      <p:sp>
        <p:nvSpPr>
          <p:cNvPr id="6" name="TextBox 1">
            <a:extLst>
              <a:ext uri="{FF2B5EF4-FFF2-40B4-BE49-F238E27FC236}">
                <a16:creationId xmlns:a16="http://schemas.microsoft.com/office/drawing/2014/main" id="{69BB7ACF-3432-416C-B323-88BC8360444D}"/>
              </a:ext>
            </a:extLst>
          </p:cNvPr>
          <p:cNvSpPr txBox="1"/>
          <p:nvPr/>
        </p:nvSpPr>
        <p:spPr>
          <a:xfrm>
            <a:off x="5949953" y="661445"/>
            <a:ext cx="2591327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ctr"/>
            <a:r>
              <a:rPr lang="en-US" sz="1200">
                <a:solidFill>
                  <a:srgbClr val="212121"/>
                </a:solidFill>
                <a:cs typeface="Segoe UI"/>
              </a:rPr>
              <a:t>Target Audience Active Times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6726DA-1122-4681-93F6-E532B1BAF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891" y="1039964"/>
            <a:ext cx="4654194" cy="29847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16A2A85-6F0B-452A-A4C2-C4FCCE08A3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688" y="1375015"/>
            <a:ext cx="3651405" cy="2412640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F1496754-BF7E-418D-BBF5-23FE3DEB9910}"/>
              </a:ext>
            </a:extLst>
          </p:cNvPr>
          <p:cNvSpPr txBox="1">
            <a:spLocks/>
          </p:cNvSpPr>
          <p:nvPr/>
        </p:nvSpPr>
        <p:spPr>
          <a:xfrm>
            <a:off x="167100" y="84769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212121"/>
                </a:solidFill>
              </a:rPr>
              <a:t>Campaign Highlights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876FB40-B9C7-49BE-BC40-0813BAAC134D}"/>
              </a:ext>
            </a:extLst>
          </p:cNvPr>
          <p:cNvCxnSpPr>
            <a:cxnSpLocks/>
          </p:cNvCxnSpPr>
          <p:nvPr/>
        </p:nvCxnSpPr>
        <p:spPr>
          <a:xfrm>
            <a:off x="5282910" y="1039964"/>
            <a:ext cx="0" cy="3479638"/>
          </a:xfrm>
          <a:prstGeom prst="line">
            <a:avLst/>
          </a:prstGeom>
          <a:ln w="34925">
            <a:solidFill>
              <a:schemeClr val="accent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">
            <a:extLst>
              <a:ext uri="{FF2B5EF4-FFF2-40B4-BE49-F238E27FC236}">
                <a16:creationId xmlns:a16="http://schemas.microsoft.com/office/drawing/2014/main" id="{FF396596-270D-4A83-BB84-9B118F19000F}"/>
              </a:ext>
            </a:extLst>
          </p:cNvPr>
          <p:cNvSpPr txBox="1"/>
          <p:nvPr/>
        </p:nvSpPr>
        <p:spPr>
          <a:xfrm>
            <a:off x="5949953" y="669609"/>
            <a:ext cx="2591327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lvl="1" algn="ctr"/>
            <a:r>
              <a:rPr lang="en-US" sz="1200">
                <a:solidFill>
                  <a:srgbClr val="212121"/>
                </a:solidFill>
                <a:cs typeface="Segoe UI"/>
              </a:rPr>
              <a:t>Target Audience Active Times 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BEF427-C862-49B0-ADFA-6A0EDD88EE8F}"/>
              </a:ext>
            </a:extLst>
          </p:cNvPr>
          <p:cNvCxnSpPr>
            <a:cxnSpLocks/>
          </p:cNvCxnSpPr>
          <p:nvPr/>
        </p:nvCxnSpPr>
        <p:spPr>
          <a:xfrm>
            <a:off x="167101" y="618108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036A2966-D892-4371-82BA-F5EDB405843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617" y="75110"/>
            <a:ext cx="1689379" cy="4784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C78F97-381E-84DD-51A2-49ACAF1683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0835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6" grpId="0"/>
      <p:bldP spid="11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632EF84-BED5-4881-BFF4-74D4C6B8A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0" y="101098"/>
            <a:ext cx="6614100" cy="755700"/>
          </a:xfrm>
        </p:spPr>
        <p:txBody>
          <a:bodyPr/>
          <a:lstStyle/>
          <a:p>
            <a:r>
              <a:rPr lang="en-US" b="1">
                <a:solidFill>
                  <a:srgbClr val="212121"/>
                </a:solidFill>
              </a:rPr>
              <a:t>Future Recommendations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119D22C3-938E-442D-B08F-58996968A98B}"/>
              </a:ext>
            </a:extLst>
          </p:cNvPr>
          <p:cNvCxnSpPr>
            <a:cxnSpLocks/>
          </p:cNvCxnSpPr>
          <p:nvPr/>
        </p:nvCxnSpPr>
        <p:spPr>
          <a:xfrm>
            <a:off x="167103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群組 10">
            <a:extLst>
              <a:ext uri="{FF2B5EF4-FFF2-40B4-BE49-F238E27FC236}">
                <a16:creationId xmlns:a16="http://schemas.microsoft.com/office/drawing/2014/main" id="{58795F4B-21D6-4660-A3B1-39EC8D1B8915}"/>
              </a:ext>
            </a:extLst>
          </p:cNvPr>
          <p:cNvGrpSpPr/>
          <p:nvPr/>
        </p:nvGrpSpPr>
        <p:grpSpPr>
          <a:xfrm>
            <a:off x="683920" y="1798875"/>
            <a:ext cx="2700538" cy="1605147"/>
            <a:chOff x="2111046" y="4736351"/>
            <a:chExt cx="1113972" cy="1785246"/>
          </a:xfrm>
        </p:grpSpPr>
        <p:sp>
          <p:nvSpPr>
            <p:cNvPr id="6" name="Oval 20">
              <a:extLst>
                <a:ext uri="{FF2B5EF4-FFF2-40B4-BE49-F238E27FC236}">
                  <a16:creationId xmlns:a16="http://schemas.microsoft.com/office/drawing/2014/main" id="{50B2057A-840D-4759-A987-E830B53C465E}"/>
                </a:ext>
              </a:extLst>
            </p:cNvPr>
            <p:cNvSpPr/>
            <p:nvPr/>
          </p:nvSpPr>
          <p:spPr>
            <a:xfrm>
              <a:off x="2188934" y="4814240"/>
              <a:ext cx="958193" cy="958193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US" kern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7" name="Group 112">
              <a:extLst>
                <a:ext uri="{FF2B5EF4-FFF2-40B4-BE49-F238E27FC236}">
                  <a16:creationId xmlns:a16="http://schemas.microsoft.com/office/drawing/2014/main" id="{8FAD0F7E-7820-4BC7-9841-6A12E17668E5}"/>
                </a:ext>
              </a:extLst>
            </p:cNvPr>
            <p:cNvGrpSpPr/>
            <p:nvPr/>
          </p:nvGrpSpPr>
          <p:grpSpPr>
            <a:xfrm>
              <a:off x="2111046" y="4736351"/>
              <a:ext cx="1113972" cy="1785246"/>
              <a:chOff x="1672124" y="4723806"/>
              <a:chExt cx="1113972" cy="1785246"/>
            </a:xfrm>
          </p:grpSpPr>
          <p:sp>
            <p:nvSpPr>
              <p:cNvPr id="8" name="Oval 21">
                <a:extLst>
                  <a:ext uri="{FF2B5EF4-FFF2-40B4-BE49-F238E27FC236}">
                    <a16:creationId xmlns:a16="http://schemas.microsoft.com/office/drawing/2014/main" id="{2FCC3B93-944D-4418-90A4-C5BC87563A68}"/>
                  </a:ext>
                </a:extLst>
              </p:cNvPr>
              <p:cNvSpPr/>
              <p:nvPr/>
            </p:nvSpPr>
            <p:spPr>
              <a:xfrm>
                <a:off x="1672124" y="4723806"/>
                <a:ext cx="1113972" cy="1113972"/>
              </a:xfrm>
              <a:prstGeom prst="chevron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kern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9" name="Text Placeholder 3">
                <a:extLst>
                  <a:ext uri="{FF2B5EF4-FFF2-40B4-BE49-F238E27FC236}">
                    <a16:creationId xmlns:a16="http://schemas.microsoft.com/office/drawing/2014/main" id="{BCA6D525-D693-436A-B1E6-83A9312B931D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2124" y="6098281"/>
                <a:ext cx="963308" cy="410771"/>
              </a:xfrm>
              <a:prstGeom prst="chevron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defTabSz="914378">
                  <a:spcBef>
                    <a:spcPct val="20000"/>
                  </a:spcBef>
                  <a:buClrTx/>
                  <a:defRPr/>
                </a:pPr>
                <a:r>
                  <a:rPr lang="en-US" sz="1200" b="1" kern="1200">
                    <a:solidFill>
                      <a:schemeClr val="accent2">
                        <a:lumMod val="50000"/>
                      </a:schemeClr>
                    </a:solidFill>
                    <a:latin typeface="Calibri" panose="020F0502020204030204"/>
                    <a:ea typeface="+mn-ea"/>
                    <a:cs typeface="+mn-cs"/>
                  </a:rPr>
                  <a:t>Incorporate and link Google Analytics to Google Ads</a:t>
                </a:r>
                <a:endParaRPr lang="en-US" sz="1600" b="1" kern="1200">
                  <a:solidFill>
                    <a:schemeClr val="accent2">
                      <a:lumMod val="50000"/>
                    </a:schemeClr>
                  </a:solidFill>
                  <a:latin typeface="Calibri" panose="020F0502020204030204"/>
                  <a:ea typeface="+mn-ea"/>
                  <a:cs typeface="Calibri"/>
                </a:endParaRPr>
              </a:p>
            </p:txBody>
          </p:sp>
        </p:grpSp>
      </p:grpSp>
      <p:grpSp>
        <p:nvGrpSpPr>
          <p:cNvPr id="10" name="群組 10">
            <a:extLst>
              <a:ext uri="{FF2B5EF4-FFF2-40B4-BE49-F238E27FC236}">
                <a16:creationId xmlns:a16="http://schemas.microsoft.com/office/drawing/2014/main" id="{1DAEC76C-DF0B-49CF-AF8B-A99C7085E7C7}"/>
              </a:ext>
            </a:extLst>
          </p:cNvPr>
          <p:cNvGrpSpPr/>
          <p:nvPr/>
        </p:nvGrpSpPr>
        <p:grpSpPr>
          <a:xfrm>
            <a:off x="3090457" y="1744251"/>
            <a:ext cx="2832315" cy="2164792"/>
            <a:chOff x="2048151" y="4736351"/>
            <a:chExt cx="1176867" cy="2188387"/>
          </a:xfrm>
        </p:grpSpPr>
        <p:sp>
          <p:nvSpPr>
            <p:cNvPr id="11" name="Oval 20">
              <a:extLst>
                <a:ext uri="{FF2B5EF4-FFF2-40B4-BE49-F238E27FC236}">
                  <a16:creationId xmlns:a16="http://schemas.microsoft.com/office/drawing/2014/main" id="{76FB8D6E-23D8-43AC-B929-BB71E8CE1CE7}"/>
                </a:ext>
              </a:extLst>
            </p:cNvPr>
            <p:cNvSpPr/>
            <p:nvPr/>
          </p:nvSpPr>
          <p:spPr>
            <a:xfrm>
              <a:off x="2188934" y="4814240"/>
              <a:ext cx="958193" cy="958193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US" kern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2" name="Group 112">
              <a:extLst>
                <a:ext uri="{FF2B5EF4-FFF2-40B4-BE49-F238E27FC236}">
                  <a16:creationId xmlns:a16="http://schemas.microsoft.com/office/drawing/2014/main" id="{ADB37C14-0760-4424-9E45-715464084767}"/>
                </a:ext>
              </a:extLst>
            </p:cNvPr>
            <p:cNvGrpSpPr/>
            <p:nvPr/>
          </p:nvGrpSpPr>
          <p:grpSpPr>
            <a:xfrm>
              <a:off x="2048151" y="4736351"/>
              <a:ext cx="1176867" cy="2188387"/>
              <a:chOff x="1609229" y="4723806"/>
              <a:chExt cx="1176867" cy="2188387"/>
            </a:xfrm>
          </p:grpSpPr>
          <p:sp>
            <p:nvSpPr>
              <p:cNvPr id="13" name="Oval 21">
                <a:extLst>
                  <a:ext uri="{FF2B5EF4-FFF2-40B4-BE49-F238E27FC236}">
                    <a16:creationId xmlns:a16="http://schemas.microsoft.com/office/drawing/2014/main" id="{626C583C-6FD6-4FB7-B088-401F0D3898F8}"/>
                  </a:ext>
                </a:extLst>
              </p:cNvPr>
              <p:cNvSpPr/>
              <p:nvPr/>
            </p:nvSpPr>
            <p:spPr>
              <a:xfrm>
                <a:off x="1672124" y="4723806"/>
                <a:ext cx="1113972" cy="1113972"/>
              </a:xfrm>
              <a:prstGeom prst="chevron">
                <a:avLst/>
              </a:prstGeom>
              <a:noFill/>
              <a:ln w="19050">
                <a:solidFill>
                  <a:schemeClr val="tx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kern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4" name="Text Placeholder 3">
                <a:extLst>
                  <a:ext uri="{FF2B5EF4-FFF2-40B4-BE49-F238E27FC236}">
                    <a16:creationId xmlns:a16="http://schemas.microsoft.com/office/drawing/2014/main" id="{ED22F02A-FC64-49B5-A495-F8C19619C9E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09229" y="5754785"/>
                <a:ext cx="1151580" cy="1157408"/>
              </a:xfrm>
              <a:prstGeom prst="chevron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defTabSz="914378">
                  <a:spcBef>
                    <a:spcPct val="20000"/>
                  </a:spcBef>
                  <a:defRPr/>
                </a:pPr>
                <a:endParaRPr lang="en-US" sz="1200" b="1" kern="1200">
                  <a:solidFill>
                    <a:schemeClr val="accent2">
                      <a:lumMod val="50000"/>
                    </a:schemeClr>
                  </a:solidFill>
                  <a:latin typeface="Calibri" panose="020F0502020204030204"/>
                  <a:ea typeface="+mn-ea"/>
                  <a:cs typeface="+mn-cs"/>
                </a:endParaRPr>
              </a:p>
              <a:p>
                <a:pPr defTabSz="914378">
                  <a:spcBef>
                    <a:spcPct val="20000"/>
                  </a:spcBef>
                  <a:defRPr/>
                </a:pPr>
                <a:r>
                  <a:rPr lang="en-US" sz="1200" b="1" kern="1200">
                    <a:solidFill>
                      <a:schemeClr val="accent2">
                        <a:lumMod val="50000"/>
                      </a:schemeClr>
                    </a:solidFill>
                    <a:latin typeface="Calibri" panose="020F0502020204030204"/>
                    <a:ea typeface="+mn-ea"/>
                    <a:cs typeface="+mn-cs"/>
                  </a:rPr>
                  <a:t>Remove broken links and Include CTA to encourage visitors to come on to landing pages &amp; take necessary action </a:t>
                </a:r>
                <a:endParaRPr lang="en-US">
                  <a:solidFill>
                    <a:schemeClr val="accent2">
                      <a:lumMod val="50000"/>
                    </a:schemeClr>
                  </a:solidFill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5" name="群組 10">
            <a:extLst>
              <a:ext uri="{FF2B5EF4-FFF2-40B4-BE49-F238E27FC236}">
                <a16:creationId xmlns:a16="http://schemas.microsoft.com/office/drawing/2014/main" id="{D04474A5-D06A-4897-A0A8-5A71B39F0EE8}"/>
              </a:ext>
            </a:extLst>
          </p:cNvPr>
          <p:cNvGrpSpPr/>
          <p:nvPr/>
        </p:nvGrpSpPr>
        <p:grpSpPr>
          <a:xfrm>
            <a:off x="5801374" y="1823081"/>
            <a:ext cx="2830178" cy="1560859"/>
            <a:chOff x="2111046" y="4736351"/>
            <a:chExt cx="1113972" cy="1738500"/>
          </a:xfrm>
        </p:grpSpPr>
        <p:sp>
          <p:nvSpPr>
            <p:cNvPr id="16" name="Oval 20">
              <a:extLst>
                <a:ext uri="{FF2B5EF4-FFF2-40B4-BE49-F238E27FC236}">
                  <a16:creationId xmlns:a16="http://schemas.microsoft.com/office/drawing/2014/main" id="{A42775F0-638D-4FDA-84C3-2E920AFF1947}"/>
                </a:ext>
              </a:extLst>
            </p:cNvPr>
            <p:cNvSpPr/>
            <p:nvPr/>
          </p:nvSpPr>
          <p:spPr>
            <a:xfrm>
              <a:off x="2188934" y="4814240"/>
              <a:ext cx="958193" cy="958193"/>
            </a:xfrm>
            <a:prstGeom prst="chevron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defTabSz="685800">
                <a:buClrTx/>
                <a:defRPr/>
              </a:pPr>
              <a:endParaRPr lang="en-US" kern="1200">
                <a:solidFill>
                  <a:prstClr val="white"/>
                </a:solidFill>
                <a:latin typeface="Calibri" panose="020F0502020204030204"/>
              </a:endParaRPr>
            </a:p>
          </p:txBody>
        </p:sp>
        <p:grpSp>
          <p:nvGrpSpPr>
            <p:cNvPr id="17" name="Group 112">
              <a:extLst>
                <a:ext uri="{FF2B5EF4-FFF2-40B4-BE49-F238E27FC236}">
                  <a16:creationId xmlns:a16="http://schemas.microsoft.com/office/drawing/2014/main" id="{951BCD0F-D076-44DB-A7F2-839B6B29DAF5}"/>
                </a:ext>
              </a:extLst>
            </p:cNvPr>
            <p:cNvGrpSpPr/>
            <p:nvPr/>
          </p:nvGrpSpPr>
          <p:grpSpPr>
            <a:xfrm>
              <a:off x="2111046" y="4736351"/>
              <a:ext cx="1113972" cy="1738500"/>
              <a:chOff x="1672124" y="4723806"/>
              <a:chExt cx="1113972" cy="1738500"/>
            </a:xfrm>
          </p:grpSpPr>
          <p:sp>
            <p:nvSpPr>
              <p:cNvPr id="18" name="Oval 21">
                <a:extLst>
                  <a:ext uri="{FF2B5EF4-FFF2-40B4-BE49-F238E27FC236}">
                    <a16:creationId xmlns:a16="http://schemas.microsoft.com/office/drawing/2014/main" id="{F95EE706-F536-441A-8BCB-0FCCFF9D1FDE}"/>
                  </a:ext>
                </a:extLst>
              </p:cNvPr>
              <p:cNvSpPr/>
              <p:nvPr/>
            </p:nvSpPr>
            <p:spPr>
              <a:xfrm>
                <a:off x="1672124" y="4723806"/>
                <a:ext cx="1113972" cy="1113972"/>
              </a:xfrm>
              <a:prstGeom prst="chevron">
                <a:avLst/>
              </a:prstGeom>
              <a:noFill/>
              <a:ln w="19050">
                <a:solidFill>
                  <a:schemeClr val="accent1"/>
                </a:solidFill>
                <a:prstDash val="sysDot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 defTabSz="685800">
                  <a:buClrTx/>
                  <a:defRPr/>
                </a:pPr>
                <a:endParaRPr lang="en-US" kern="1200">
                  <a:solidFill>
                    <a:prstClr val="white"/>
                  </a:solidFill>
                  <a:latin typeface="Calibri" panose="020F0502020204030204"/>
                </a:endParaRPr>
              </a:p>
            </p:txBody>
          </p:sp>
          <p:sp>
            <p:nvSpPr>
              <p:cNvPr id="19" name="Text Placeholder 3">
                <a:extLst>
                  <a:ext uri="{FF2B5EF4-FFF2-40B4-BE49-F238E27FC236}">
                    <a16:creationId xmlns:a16="http://schemas.microsoft.com/office/drawing/2014/main" id="{294210FF-FAC2-4321-96AB-93C882789884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1672124" y="6050940"/>
                <a:ext cx="1072956" cy="411366"/>
              </a:xfrm>
              <a:prstGeom prst="chevron">
                <a:avLst/>
              </a:prstGeom>
            </p:spPr>
            <p:txBody>
              <a:bodyPr wrap="square" lIns="0" tIns="0" rIns="0" bIns="0" anchor="ctr" anchorCtr="0">
                <a:spAutoFit/>
              </a:bodyPr>
              <a:lstStyle>
                <a:lvl1pPr marL="0" indent="0" algn="ctr">
                  <a:buNone/>
                  <a:defRPr sz="1400" baseline="0">
                    <a:solidFill>
                      <a:schemeClr val="tx1">
                        <a:lumMod val="95000"/>
                        <a:lumOff val="5000"/>
                      </a:schemeClr>
                    </a:solidFill>
                  </a:defRPr>
                </a:lvl1pPr>
                <a:lvl2pPr marL="457200" indent="0">
                  <a:buNone/>
                  <a:defRPr sz="1200"/>
                </a:lvl2pPr>
                <a:lvl3pPr marL="914400" indent="0">
                  <a:buNone/>
                  <a:defRPr sz="1000"/>
                </a:lvl3pPr>
                <a:lvl4pPr marL="1371600" indent="0">
                  <a:buNone/>
                  <a:defRPr sz="900"/>
                </a:lvl4pPr>
                <a:lvl5pPr marL="1828800" indent="0">
                  <a:buNone/>
                  <a:defRPr sz="900"/>
                </a:lvl5pPr>
                <a:lvl6pPr marL="2286000" indent="0">
                  <a:buNone/>
                  <a:defRPr sz="900"/>
                </a:lvl6pPr>
                <a:lvl7pPr marL="2743200" indent="0">
                  <a:buNone/>
                  <a:defRPr sz="900"/>
                </a:lvl7pPr>
                <a:lvl8pPr marL="3200400" indent="0">
                  <a:buNone/>
                  <a:defRPr sz="900"/>
                </a:lvl8pPr>
                <a:lvl9pPr marL="3657600" indent="0">
                  <a:buNone/>
                  <a:defRPr sz="900"/>
                </a:lvl9pPr>
              </a:lstStyle>
              <a:p>
                <a:pPr defTabSz="914378">
                  <a:spcBef>
                    <a:spcPct val="20000"/>
                  </a:spcBef>
                  <a:defRPr/>
                </a:pPr>
                <a:r>
                  <a:rPr lang="en-US" sz="1200" b="1">
                    <a:solidFill>
                      <a:schemeClr val="tx1"/>
                    </a:solidFill>
                    <a:latin typeface="Calibri" panose="020F0502020204030204"/>
                  </a:rPr>
                  <a:t>I</a:t>
                </a:r>
                <a:r>
                  <a:rPr lang="en-US" sz="1200" b="1" kern="1200">
                    <a:solidFill>
                      <a:schemeClr val="tx1"/>
                    </a:solidFill>
                    <a:latin typeface="Calibri" panose="020F0502020204030204"/>
                    <a:ea typeface="+mn-ea"/>
                    <a:cs typeface="+mn-cs"/>
                  </a:rPr>
                  <a:t>nclude audiences (website visitors, and affinity audiences)</a:t>
                </a:r>
                <a:endParaRPr lang="en-US" sz="1200" b="1" kern="1200">
                  <a:solidFill>
                    <a:schemeClr val="tx1"/>
                  </a:solidFill>
                  <a:latin typeface="Calibri" panose="020F0502020204030204"/>
                  <a:ea typeface="+mn-ea"/>
                  <a:cs typeface="Calibri"/>
                </a:endParaRPr>
              </a:p>
            </p:txBody>
          </p:sp>
        </p:grpSp>
      </p:grpSp>
      <p:pic>
        <p:nvPicPr>
          <p:cNvPr id="20" name="Graphic 19" descr="Connections">
            <a:extLst>
              <a:ext uri="{FF2B5EF4-FFF2-40B4-BE49-F238E27FC236}">
                <a16:creationId xmlns:a16="http://schemas.microsoft.com/office/drawing/2014/main" id="{793778FB-92AA-4E3A-9FD8-00D0F290FA8A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900288" y="1968204"/>
            <a:ext cx="685800" cy="685800"/>
          </a:xfrm>
          <a:prstGeom prst="rect">
            <a:avLst/>
          </a:prstGeom>
        </p:spPr>
      </p:pic>
      <p:pic>
        <p:nvPicPr>
          <p:cNvPr id="21" name="Graphic 20" descr="Lightbulb and gear">
            <a:extLst>
              <a:ext uri="{FF2B5EF4-FFF2-40B4-BE49-F238E27FC236}">
                <a16:creationId xmlns:a16="http://schemas.microsoft.com/office/drawing/2014/main" id="{2169D486-2D8D-44B4-A183-36BA031677D0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66235" y="1947633"/>
            <a:ext cx="623681" cy="623681"/>
          </a:xfrm>
          <a:prstGeom prst="rect">
            <a:avLst/>
          </a:prstGeom>
        </p:spPr>
      </p:pic>
      <p:pic>
        <p:nvPicPr>
          <p:cNvPr id="22" name="Graphic 21" descr="Database">
            <a:extLst>
              <a:ext uri="{FF2B5EF4-FFF2-40B4-BE49-F238E27FC236}">
                <a16:creationId xmlns:a16="http://schemas.microsoft.com/office/drawing/2014/main" id="{E70A887F-2DDD-4A2F-9125-32393021534B}"/>
              </a:ext>
            </a:extLst>
          </p:cNvPr>
          <p:cNvPicPr>
            <a:picLocks noChangeAspect="1"/>
          </p:cNvPicPr>
          <p:nvPr/>
        </p:nvPicPr>
        <p:blipFill>
          <a:blip r:embed="rId6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34840" y="1955800"/>
            <a:ext cx="685800" cy="68580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3DBDB6E-8833-4D2C-9DC0-5A31EA7B6DE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46D35DCA-7299-7C6F-A28C-1C8A9C01DB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5063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FB76B0FC-7385-4618-BD4D-93DCCE509D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77939534"/>
              </p:ext>
            </p:extLst>
          </p:nvPr>
        </p:nvGraphicFramePr>
        <p:xfrm>
          <a:off x="394748" y="1035993"/>
          <a:ext cx="8539020" cy="407515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6D8916DF-424E-4188-8123-534B9B53137C}"/>
              </a:ext>
            </a:extLst>
          </p:cNvPr>
          <p:cNvSpPr txBox="1">
            <a:spLocks/>
          </p:cNvSpPr>
          <p:nvPr/>
        </p:nvSpPr>
        <p:spPr>
          <a:xfrm>
            <a:off x="167100" y="33837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212121"/>
                </a:solidFill>
              </a:rPr>
              <a:t>Future 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18F9E3F-9A16-49A6-A145-0E39C923625B}"/>
              </a:ext>
            </a:extLst>
          </p:cNvPr>
          <p:cNvCxnSpPr>
            <a:cxnSpLocks/>
          </p:cNvCxnSpPr>
          <p:nvPr/>
        </p:nvCxnSpPr>
        <p:spPr>
          <a:xfrm>
            <a:off x="167102" y="601779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598DA6ED-2217-45D2-B90A-10FBAE76BEF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5617" y="75110"/>
            <a:ext cx="1689379" cy="478460"/>
          </a:xfrm>
          <a:prstGeom prst="rect">
            <a:avLst/>
          </a:prstGeom>
        </p:spPr>
      </p:pic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CE2D5868-F23D-47DF-B0CA-7C79EE52E6F3}"/>
              </a:ext>
            </a:extLst>
          </p:cNvPr>
          <p:cNvSpPr/>
          <p:nvPr/>
        </p:nvSpPr>
        <p:spPr>
          <a:xfrm>
            <a:off x="8524297" y="1292255"/>
            <a:ext cx="452603" cy="452603"/>
          </a:xfrm>
          <a:prstGeom prst="triangle">
            <a:avLst>
              <a:gd name="adj" fmla="val 100000"/>
            </a:avLst>
          </a:prstGeom>
        </p:spPr>
        <p:style>
          <a:lnRef idx="2">
            <a:schemeClr val="dk2">
              <a:hueOff val="0"/>
              <a:satOff val="0"/>
              <a:lumOff val="0"/>
              <a:alphaOff val="0"/>
            </a:schemeClr>
          </a:lnRef>
          <a:fillRef idx="1">
            <a:schemeClr val="dk2">
              <a:hueOff val="0"/>
              <a:satOff val="0"/>
              <a:lumOff val="0"/>
              <a:alphaOff val="0"/>
            </a:schemeClr>
          </a:fillRef>
          <a:effectRef idx="0">
            <a:schemeClr val="dk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/>
          <a:p/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904F8689-1794-1E71-08CF-36B061A9EDF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374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47E5FAE4-CE65-3C47-BF3A-A672B43EAAB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EA5C6A1-497B-0A4F-851F-BD6A6309AB6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D596BD2B-994D-C041-9353-CCD037EF204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817E641-2477-3146-9635-DB27AC72F2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659E6606-235D-D649-87D8-1461A1A43ED6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FB831033-55ED-424D-A90E-A55635AF719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E2AD673F-AC0A-5246-A3A2-B002D1AEC688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graphicEl>
                                              <a:dgm id="{9D6C6475-45A1-084C-B025-2ADD0C50ED3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3" grpId="0" uiExpand="1">
        <p:bldSub>
          <a:bldDgm bld="one"/>
        </p:bldSub>
      </p:bldGraphic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8609D630-FE4A-40FF-8F89-62D4FC18BDB9}"/>
              </a:ext>
            </a:extLst>
          </p:cNvPr>
          <p:cNvSpPr txBox="1">
            <a:spLocks/>
          </p:cNvSpPr>
          <p:nvPr/>
        </p:nvSpPr>
        <p:spPr>
          <a:xfrm>
            <a:off x="167100" y="101098"/>
            <a:ext cx="6614100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212121"/>
                </a:solidFill>
              </a:rPr>
              <a:t>Appendix – Ad Copies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FE7A8B5-815D-4C2A-8957-0174AFC11100}"/>
              </a:ext>
            </a:extLst>
          </p:cNvPr>
          <p:cNvCxnSpPr>
            <a:cxnSpLocks/>
          </p:cNvCxnSpPr>
          <p:nvPr/>
        </p:nvCxnSpPr>
        <p:spPr>
          <a:xfrm>
            <a:off x="167103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15E3E7CB-FDCD-47D2-B78E-042DDB4ACB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E9957A4-39AC-42A3-9CA1-0D65567DE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290" y="817491"/>
            <a:ext cx="3912585" cy="1668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033D3C-5A7B-40C8-884A-78E9661209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4809" y="818181"/>
            <a:ext cx="3912781" cy="166782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22B1368-F4E8-4847-BF75-0AAA924A64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290" y="2740687"/>
            <a:ext cx="3912585" cy="1777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09C01B-E6F5-446A-B835-AE4C6BDBFC1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5007" y="2738270"/>
            <a:ext cx="3912583" cy="177554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CCB75D2-8951-CFC1-B618-03FA0376C5E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18278" y="4709192"/>
            <a:ext cx="716289" cy="4029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091716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900A97D7-71D1-2D4D-9200-030537ED5FA5}"/>
              </a:ext>
            </a:extLst>
          </p:cNvPr>
          <p:cNvSpPr txBox="1">
            <a:spLocks/>
          </p:cNvSpPr>
          <p:nvPr/>
        </p:nvSpPr>
        <p:spPr>
          <a:xfrm>
            <a:off x="167099" y="101098"/>
            <a:ext cx="7566741" cy="7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Roboto"/>
              <a:buNone/>
              <a:defRPr sz="2600" b="0" i="0" u="none" strike="noStrike" cap="none">
                <a:solidFill>
                  <a:srgbClr val="666666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accent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b="1">
                <a:solidFill>
                  <a:srgbClr val="212121"/>
                </a:solidFill>
              </a:rPr>
              <a:t>Appendix – Campaign Performance Metrics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7EB81C0-6F2E-D343-A8C3-C9EDD63F5173}"/>
              </a:ext>
            </a:extLst>
          </p:cNvPr>
          <p:cNvCxnSpPr>
            <a:cxnSpLocks/>
          </p:cNvCxnSpPr>
          <p:nvPr/>
        </p:nvCxnSpPr>
        <p:spPr>
          <a:xfrm>
            <a:off x="167103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C83D472-B284-C641-A6F6-D286FCB265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193" y="4698409"/>
            <a:ext cx="716289" cy="402913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9C9439C0-3CFC-44A9-BCED-14D851497268}"/>
              </a:ext>
            </a:extLst>
          </p:cNvPr>
          <p:cNvSpPr/>
          <p:nvPr/>
        </p:nvSpPr>
        <p:spPr>
          <a:xfrm>
            <a:off x="3208799" y="850533"/>
            <a:ext cx="2087431" cy="338554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algn="ctr"/>
            <a:r>
              <a:rPr lang="en-US" sz="1600" b="1" dirty="0">
                <a:solidFill>
                  <a:srgbClr val="212121"/>
                </a:solidFill>
                <a:cs typeface="Segoe UI"/>
              </a:rPr>
              <a:t>Current Campaigns</a:t>
            </a:r>
            <a:endParaRPr lang="en-US" sz="1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C3FBDB4-E19A-C0FB-EBF9-E83DB62CAE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E73FFCA9-0034-4807-9317-1AE3228FC7F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08487" y="1686827"/>
            <a:ext cx="8327025" cy="204867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65219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DB3BBD7-DC61-AD4F-BCE6-7ACD0AC29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100" y="101098"/>
            <a:ext cx="6614100" cy="755700"/>
          </a:xfrm>
        </p:spPr>
        <p:txBody>
          <a:bodyPr/>
          <a:lstStyle/>
          <a:p>
            <a:r>
              <a:rPr lang="en-US" b="1" dirty="0">
                <a:solidFill>
                  <a:schemeClr val="tx1"/>
                </a:solidFill>
              </a:rPr>
              <a:t>Search Query Report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4B9AAA2-E17A-7741-921E-9E14A1010E78}"/>
              </a:ext>
            </a:extLst>
          </p:cNvPr>
          <p:cNvCxnSpPr>
            <a:cxnSpLocks/>
          </p:cNvCxnSpPr>
          <p:nvPr/>
        </p:nvCxnSpPr>
        <p:spPr>
          <a:xfrm>
            <a:off x="167101" y="609943"/>
            <a:ext cx="876789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60D5FB23-0BA5-E847-9C2B-A467E97F37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2644" y="57967"/>
            <a:ext cx="734785" cy="48986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A9FCD4FB-52B8-AF43-801E-C277F9CE9F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45804" y="4649147"/>
            <a:ext cx="716289" cy="40291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C0D10997-EBE5-47D4-9AA7-565A535BD741}"/>
              </a:ext>
            </a:extLst>
          </p:cNvPr>
          <p:cNvSpPr/>
          <p:nvPr/>
        </p:nvSpPr>
        <p:spPr>
          <a:xfrm>
            <a:off x="1375509" y="738469"/>
            <a:ext cx="1736187" cy="874029"/>
          </a:xfrm>
          <a:prstGeom prst="ellipse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cs typeface="Arial"/>
              </a:rPr>
              <a:t>Positive Keywords</a:t>
            </a:r>
            <a:endParaRPr lang="en-US" sz="1600" b="1" dirty="0"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68FBA75-FB86-23C6-5AEF-96878B28F5C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1F03E5C-2106-4CFB-B22B-3DF4AE38469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6435987"/>
              </p:ext>
            </p:extLst>
          </p:nvPr>
        </p:nvGraphicFramePr>
        <p:xfrm>
          <a:off x="1218481" y="1779198"/>
          <a:ext cx="2220198" cy="2877547"/>
        </p:xfrm>
        <a:graphic>
          <a:graphicData uri="http://schemas.openxmlformats.org/drawingml/2006/table">
            <a:tbl>
              <a:tblPr>
                <a:tableStyleId>{459FDDED-E816-49B8-A515-81FDA929BD25}</a:tableStyleId>
              </a:tblPr>
              <a:tblGrid>
                <a:gridCol w="2220198">
                  <a:extLst>
                    <a:ext uri="{9D8B030D-6E8A-4147-A177-3AD203B41FA5}">
                      <a16:colId xmlns:a16="http://schemas.microsoft.com/office/drawing/2014/main" val="458798960"/>
                    </a:ext>
                  </a:extLst>
                </a:gridCol>
              </a:tblGrid>
              <a:tr h="254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fossil free investing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2593"/>
                  </a:ext>
                </a:extLst>
              </a:tr>
              <a:tr h="254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best mutual funds to invest in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1710460"/>
                  </a:ext>
                </a:extLst>
              </a:tr>
              <a:tr h="254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mutual fund calculator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6682581"/>
                  </a:ext>
                </a:extLst>
              </a:tr>
              <a:tr h="254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efg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5497069"/>
                  </a:ext>
                </a:extLst>
              </a:tr>
              <a:tr h="254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esg companies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9404224"/>
                  </a:ext>
                </a:extLst>
              </a:tr>
              <a:tr h="46720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esp investing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6645797"/>
                  </a:ext>
                </a:extLst>
              </a:tr>
              <a:tr h="254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esg stocks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5211266"/>
                  </a:ext>
                </a:extLst>
              </a:tr>
              <a:tr h="254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climate change etfs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5745947"/>
                  </a:ext>
                </a:extLst>
              </a:tr>
              <a:tr h="254838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invest in our planet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1431921"/>
                  </a:ext>
                </a:extLst>
              </a:tr>
              <a:tr h="371639">
                <a:tc>
                  <a:txBody>
                    <a:bodyPr/>
                    <a:lstStyle/>
                    <a:p>
                      <a:pPr algn="ctr" fontAlgn="b"/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what is socially responsible investing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4664881"/>
                  </a:ext>
                </a:extLst>
              </a:tr>
            </a:tbl>
          </a:graphicData>
        </a:graphic>
      </p:graphicFrame>
      <p:sp>
        <p:nvSpPr>
          <p:cNvPr id="17" name="Oval 16">
            <a:extLst>
              <a:ext uri="{FF2B5EF4-FFF2-40B4-BE49-F238E27FC236}">
                <a16:creationId xmlns:a16="http://schemas.microsoft.com/office/drawing/2014/main" id="{150B8A1E-186F-495B-9DA6-DD9780E6D100}"/>
              </a:ext>
            </a:extLst>
          </p:cNvPr>
          <p:cNvSpPr/>
          <p:nvPr/>
        </p:nvSpPr>
        <p:spPr>
          <a:xfrm>
            <a:off x="5850035" y="738469"/>
            <a:ext cx="1736187" cy="874029"/>
          </a:xfrm>
          <a:prstGeom prst="ellipse">
            <a:avLst/>
          </a:prstGeom>
          <a:solidFill>
            <a:srgbClr val="A2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1600" b="1" dirty="0">
                <a:cs typeface="Arial"/>
              </a:rPr>
              <a:t>Negative Keywords</a:t>
            </a:r>
            <a:endParaRPr lang="en-US" sz="1600" b="1" dirty="0">
              <a:cs typeface="Arial"/>
            </a:endParaRPr>
          </a:p>
        </p:txBody>
      </p:sp>
      <p:graphicFrame>
        <p:nvGraphicFramePr>
          <p:cNvPr id="19" name="Table 18">
            <a:extLst>
              <a:ext uri="{FF2B5EF4-FFF2-40B4-BE49-F238E27FC236}">
                <a16:creationId xmlns:a16="http://schemas.microsoft.com/office/drawing/2014/main" id="{2B6D82A4-8AA5-45D1-8E3E-5AF20CBD1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0422779"/>
              </p:ext>
            </p:extLst>
          </p:nvPr>
        </p:nvGraphicFramePr>
        <p:xfrm>
          <a:off x="5688398" y="1906424"/>
          <a:ext cx="2059460" cy="2614181"/>
        </p:xfrm>
        <a:graphic>
          <a:graphicData uri="http://schemas.openxmlformats.org/drawingml/2006/table">
            <a:tbl>
              <a:tblPr>
                <a:tableStyleId>{459FDDED-E816-49B8-A515-81FDA929BD25}</a:tableStyleId>
              </a:tblPr>
              <a:tblGrid>
                <a:gridCol w="2059460">
                  <a:extLst>
                    <a:ext uri="{9D8B030D-6E8A-4147-A177-3AD203B41FA5}">
                      <a16:colId xmlns:a16="http://schemas.microsoft.com/office/drawing/2014/main" val="458798960"/>
                    </a:ext>
                  </a:extLst>
                </a:gridCol>
              </a:tblGrid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“calvert”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282593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“t rowe”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01710460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[</a:t>
                      </a:r>
                      <a:r>
                        <a:rPr lang="en-US" sz="1100" b="0" i="0" u="none" strike="noStrike" cap="none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india mutual funds]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76682581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“manulife”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15497069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“</a:t>
                      </a:r>
                      <a:r>
                        <a:rPr lang="en-US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ea typeface="Arial"/>
                          <a:cs typeface="Arial"/>
                          <a:sym typeface="Arial"/>
                        </a:rPr>
                        <a:t>marijuana”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59404224"/>
                  </a:ext>
                </a:extLst>
              </a:tr>
              <a:tr h="43821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>
                          <a:effectLst/>
                        </a:rPr>
                        <a:t>“parag parikh”</a:t>
                      </a:r>
                      <a:endParaRPr lang="en-IN" sz="1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46645797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“pax world”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715211266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u="none" strike="noStrike" dirty="0">
                          <a:effectLst/>
                        </a:rPr>
                        <a:t>“vanguard com”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55745947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marR="0" algn="ctr" rtl="0" fontAlgn="b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Font typeface="Arial"/>
                      </a:pPr>
                      <a:r>
                        <a:rPr lang="en-IN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Arial"/>
                          <a:cs typeface="Arial"/>
                          <a:sym typeface="Arial"/>
                        </a:rPr>
                        <a:t>“vanguard website”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061431921"/>
                  </a:ext>
                </a:extLst>
              </a:tr>
              <a:tr h="24177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“fidelity”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466488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735047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BDE35-3608-2B6D-ED39-B60EEAF10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9073" y="1350066"/>
            <a:ext cx="6614100" cy="755700"/>
          </a:xfrm>
        </p:spPr>
        <p:txBody>
          <a:bodyPr/>
          <a:lstStyle/>
          <a:p>
            <a:pPr algn="ctr"/>
            <a:r>
              <a:rPr lang="en-US" sz="4000">
                <a:solidFill>
                  <a:schemeClr val="tx1"/>
                </a:solidFill>
              </a:rPr>
              <a:t>THANK YOU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6637CE2-DF39-CB54-9D7C-79D06E287FB6}"/>
              </a:ext>
            </a:extLst>
          </p:cNvPr>
          <p:cNvSpPr txBox="1"/>
          <p:nvPr/>
        </p:nvSpPr>
        <p:spPr>
          <a:xfrm>
            <a:off x="3023038" y="2490952"/>
            <a:ext cx="377781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/>
              <a:t>Do you have any questions?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77E14C3-F8A6-05D9-E996-569E85AD26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45617" y="83274"/>
            <a:ext cx="1689379" cy="4784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F1D985E-5F89-D7BA-018E-2C397E815E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72193" y="4698409"/>
            <a:ext cx="716289" cy="402913"/>
          </a:xfrm>
          <a:prstGeom prst="rect">
            <a:avLst/>
          </a:prstGeom>
        </p:spPr>
      </p:pic>
      <p:pic>
        <p:nvPicPr>
          <p:cNvPr id="9" name="Picture 9" descr="Text&#10;&#10;Description automatically generated">
            <a:extLst>
              <a:ext uri="{FF2B5EF4-FFF2-40B4-BE49-F238E27FC236}">
                <a16:creationId xmlns:a16="http://schemas.microsoft.com/office/drawing/2014/main" id="{A74E8862-DE1F-2363-FBFE-E7B38D1B065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48202" y="3127991"/>
            <a:ext cx="2743200" cy="858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041878"/>
      </p:ext>
    </p:extLst>
  </p:cSld>
  <p:clrMapOvr>
    <a:masterClrMapping/>
  </p:clrMapOvr>
</p:sld>
</file>

<file path=ppt/theme/theme1.xml><?xml version="1.0" encoding="utf-8"?>
<a:theme xmlns:a="http://schemas.openxmlformats.org/drawingml/2006/main" name="Global Master">
  <a:themeElements>
    <a:clrScheme name="Simple Light">
      <a:dk1>
        <a:srgbClr val="212121"/>
      </a:dk1>
      <a:lt1>
        <a:srgbClr val="FFFFFF"/>
      </a:lt1>
      <a:dk2>
        <a:srgbClr val="757575"/>
      </a:dk2>
      <a:lt2>
        <a:srgbClr val="EEEEEE"/>
      </a:lt2>
      <a:accent1>
        <a:srgbClr val="595959"/>
      </a:accent1>
      <a:accent2>
        <a:srgbClr val="000000"/>
      </a:accent2>
      <a:accent3>
        <a:srgbClr val="78909C"/>
      </a:accent3>
      <a:accent4>
        <a:srgbClr val="FF49E8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711</Words>
  <Application>Microsoft Office PowerPoint</Application>
  <PresentationFormat>On-screen Show (16:9)</PresentationFormat>
  <Paragraphs>236</Paragraphs>
  <Slides>15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Arial,Sans-Serif</vt:lpstr>
      <vt:lpstr>Roboto</vt:lpstr>
      <vt:lpstr>Google Sans</vt:lpstr>
      <vt:lpstr>Calibri</vt:lpstr>
      <vt:lpstr>Arial</vt:lpstr>
      <vt:lpstr>Global Master</vt:lpstr>
      <vt:lpstr>Google Ads Grant Challenge – Croatan Institute      </vt:lpstr>
      <vt:lpstr>PowerPoint Presentation</vt:lpstr>
      <vt:lpstr>PowerPoint Presentation</vt:lpstr>
      <vt:lpstr>Campaign Structure</vt:lpstr>
      <vt:lpstr>PowerPoint Presentation</vt:lpstr>
      <vt:lpstr>PowerPoint Presentation</vt:lpstr>
      <vt:lpstr>Campaign Performance Metrics</vt:lpstr>
      <vt:lpstr>PowerPoint Presentation</vt:lpstr>
      <vt:lpstr>PowerPoint Presentation</vt:lpstr>
      <vt:lpstr>Future Recommendations</vt:lpstr>
      <vt:lpstr>PowerPoint Presentation</vt:lpstr>
      <vt:lpstr>PowerPoint Presentation</vt:lpstr>
      <vt:lpstr>PowerPoint Presentation</vt:lpstr>
      <vt:lpstr>Search Query Report</vt:lpstr>
      <vt:lpstr>THANK YOU 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MGMT 52170 - Digital Marketing Applications</dc:title>
  <dc:creator>Rawlani, Reshma Sunil</dc:creator>
  <cp:lastModifiedBy>Priyal Vipul Vora</cp:lastModifiedBy>
  <cp:revision>2</cp:revision>
  <dcterms:created xsi:type="dcterms:W3CDTF">2020-05-03T16:09:18Z</dcterms:created>
  <dcterms:modified xsi:type="dcterms:W3CDTF">2022-04-29T17:12:12Z</dcterms:modified>
</cp:coreProperties>
</file>